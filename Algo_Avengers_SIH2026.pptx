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56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8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6243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392406"/>
            <a:ext cx="8534400" cy="1517856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805510"/>
            <a:ext cx="6286621" cy="4305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SIH26173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</a:t>
            </a:r>
            <a:r>
              <a:rPr lang="en-US" sz="20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iTantra</a:t>
            </a: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Indian Multilingual TTS &amp; STT Aided Neural Transceiver Radio Access for low bitrate links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 - </a:t>
            </a: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 - </a:t>
            </a: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 - </a:t>
            </a: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172340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 Avengers</a:t>
            </a:r>
            <a:endParaRPr lang="en-IN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Chevron 7"/>
          <p:cNvSpPr/>
          <p:nvPr/>
        </p:nvSpPr>
        <p:spPr>
          <a:xfrm>
            <a:off x="5943402" y="1182637"/>
            <a:ext cx="955739" cy="510747"/>
          </a:xfrm>
          <a:prstGeom prst="chevron">
            <a:avLst>
              <a:gd name="adj" fmla="val 50000"/>
            </a:avLst>
          </a:prstGeom>
          <a:solidFill>
            <a:srgbClr val="CDE2F6"/>
          </a:solidFill>
          <a:ln w="12700"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800" b="0" u="none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" name="TextBox 8"/>
          <p:cNvSpPr/>
          <p:nvPr/>
        </p:nvSpPr>
        <p:spPr>
          <a:xfrm>
            <a:off x="6176621" y="1296595"/>
            <a:ext cx="7128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u="none" strike="noStrike" dirty="0">
                <a:solidFill>
                  <a:srgbClr val="181E2D"/>
                </a:solidFill>
                <a:effectLst/>
                <a:uFillTx/>
                <a:latin typeface="Aptos"/>
              </a:rPr>
              <a:t>Speech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Chevron 9"/>
          <p:cNvSpPr/>
          <p:nvPr/>
        </p:nvSpPr>
        <p:spPr>
          <a:xfrm>
            <a:off x="6926501" y="1197579"/>
            <a:ext cx="831600" cy="510747"/>
          </a:xfrm>
          <a:prstGeom prst="chevron">
            <a:avLst>
              <a:gd name="adj" fmla="val 50000"/>
            </a:avLst>
          </a:prstGeom>
          <a:solidFill>
            <a:srgbClr val="FFEEDC"/>
          </a:solidFill>
          <a:ln w="12700"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10"/>
          <p:cNvSpPr/>
          <p:nvPr/>
        </p:nvSpPr>
        <p:spPr>
          <a:xfrm>
            <a:off x="6999581" y="1296595"/>
            <a:ext cx="7128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u="none" strike="noStrike" dirty="0">
                <a:solidFill>
                  <a:srgbClr val="181E2D"/>
                </a:solidFill>
                <a:effectLst/>
                <a:uFillTx/>
                <a:latin typeface="Aptos"/>
              </a:rPr>
              <a:t>VAD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Chevron 11"/>
          <p:cNvSpPr/>
          <p:nvPr/>
        </p:nvSpPr>
        <p:spPr>
          <a:xfrm>
            <a:off x="7739741" y="1197579"/>
            <a:ext cx="841320" cy="510747"/>
          </a:xfrm>
          <a:prstGeom prst="chevron">
            <a:avLst>
              <a:gd name="adj" fmla="val 50000"/>
            </a:avLst>
          </a:prstGeom>
          <a:solidFill>
            <a:srgbClr val="E1F6E9"/>
          </a:solidFill>
          <a:ln w="12700"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Box 12"/>
          <p:cNvSpPr/>
          <p:nvPr/>
        </p:nvSpPr>
        <p:spPr>
          <a:xfrm>
            <a:off x="7822541" y="1296595"/>
            <a:ext cx="7128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u="none" strike="noStrike" dirty="0">
                <a:solidFill>
                  <a:srgbClr val="181E2D"/>
                </a:solidFill>
                <a:effectLst/>
                <a:uFillTx/>
                <a:latin typeface="Aptos"/>
              </a:rPr>
              <a:t>STT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Chevron 13"/>
          <p:cNvSpPr/>
          <p:nvPr/>
        </p:nvSpPr>
        <p:spPr>
          <a:xfrm>
            <a:off x="8525621" y="1197579"/>
            <a:ext cx="878400" cy="510747"/>
          </a:xfrm>
          <a:prstGeom prst="chevron">
            <a:avLst>
              <a:gd name="adj" fmla="val 50000"/>
            </a:avLst>
          </a:prstGeom>
          <a:solidFill>
            <a:srgbClr val="EFE6FC"/>
          </a:solidFill>
          <a:ln w="12700"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14"/>
          <p:cNvSpPr/>
          <p:nvPr/>
        </p:nvSpPr>
        <p:spPr>
          <a:xfrm>
            <a:off x="8721213" y="1219652"/>
            <a:ext cx="637088" cy="42943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1" u="none" strike="noStrike" dirty="0">
                <a:solidFill>
                  <a:srgbClr val="181E2D"/>
                </a:solidFill>
                <a:effectLst/>
                <a:uFillTx/>
                <a:latin typeface="Aptos"/>
              </a:rPr>
              <a:t>≤38B Token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Chevron 15"/>
          <p:cNvSpPr/>
          <p:nvPr/>
        </p:nvSpPr>
        <p:spPr>
          <a:xfrm>
            <a:off x="9302861" y="1182637"/>
            <a:ext cx="924120" cy="525689"/>
          </a:xfrm>
          <a:prstGeom prst="chevron">
            <a:avLst>
              <a:gd name="adj" fmla="val 50000"/>
            </a:avLst>
          </a:prstGeom>
          <a:solidFill>
            <a:srgbClr val="E8F3FC"/>
          </a:solidFill>
          <a:ln w="12700"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000" b="0" u="none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16"/>
          <p:cNvSpPr/>
          <p:nvPr/>
        </p:nvSpPr>
        <p:spPr>
          <a:xfrm>
            <a:off x="9468461" y="1304289"/>
            <a:ext cx="712800" cy="2601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1" u="none" strike="noStrike" dirty="0">
                <a:solidFill>
                  <a:srgbClr val="181E2D"/>
                </a:solidFill>
                <a:effectLst/>
                <a:uFillTx/>
                <a:latin typeface="Aptos"/>
              </a:rPr>
              <a:t>Mesh Tx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Chevron 17"/>
          <p:cNvSpPr/>
          <p:nvPr/>
        </p:nvSpPr>
        <p:spPr>
          <a:xfrm>
            <a:off x="10181261" y="1182637"/>
            <a:ext cx="868680" cy="525689"/>
          </a:xfrm>
          <a:prstGeom prst="chevron">
            <a:avLst>
              <a:gd name="adj" fmla="val 50000"/>
            </a:avLst>
          </a:prstGeom>
          <a:solidFill>
            <a:srgbClr val="FFEEDC"/>
          </a:solidFill>
          <a:ln w="12700"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18"/>
          <p:cNvSpPr/>
          <p:nvPr/>
        </p:nvSpPr>
        <p:spPr>
          <a:xfrm>
            <a:off x="10291421" y="1304289"/>
            <a:ext cx="712800" cy="2601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1" u="none" strike="noStrike" dirty="0">
                <a:solidFill>
                  <a:srgbClr val="181E2D"/>
                </a:solidFill>
                <a:effectLst/>
                <a:uFillTx/>
                <a:latin typeface="Aptos"/>
              </a:rPr>
              <a:t>TTS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Chevron 19"/>
          <p:cNvSpPr/>
          <p:nvPr/>
        </p:nvSpPr>
        <p:spPr>
          <a:xfrm>
            <a:off x="10939061" y="1182637"/>
            <a:ext cx="933840" cy="525689"/>
          </a:xfrm>
          <a:prstGeom prst="chevron">
            <a:avLst>
              <a:gd name="adj" fmla="val 50000"/>
            </a:avLst>
          </a:prstGeom>
          <a:solidFill>
            <a:srgbClr val="FFE7EB"/>
          </a:solidFill>
          <a:ln w="12700"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20"/>
          <p:cNvSpPr/>
          <p:nvPr/>
        </p:nvSpPr>
        <p:spPr>
          <a:xfrm>
            <a:off x="11114381" y="1304289"/>
            <a:ext cx="712800" cy="2601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1" u="none" strike="noStrike" dirty="0">
                <a:solidFill>
                  <a:srgbClr val="181E2D"/>
                </a:solidFill>
                <a:effectLst/>
                <a:uFillTx/>
                <a:latin typeface="Aptos"/>
              </a:rPr>
              <a:t>Voice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ounded Rectangle 21"/>
          <p:cNvSpPr/>
          <p:nvPr/>
        </p:nvSpPr>
        <p:spPr>
          <a:xfrm>
            <a:off x="270360" y="1924303"/>
            <a:ext cx="3154320" cy="3667281"/>
          </a:xfrm>
          <a:prstGeom prst="roundRect">
            <a:avLst>
              <a:gd name="adj" fmla="val 16667"/>
            </a:avLst>
          </a:prstGeom>
          <a:solidFill>
            <a:srgbClr val="E8F3FC"/>
          </a:solidFill>
          <a:ln w="15240">
            <a:solidFill>
              <a:srgbClr val="D2E1F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22"/>
          <p:cNvSpPr/>
          <p:nvPr/>
        </p:nvSpPr>
        <p:spPr>
          <a:xfrm>
            <a:off x="594360" y="2213280"/>
            <a:ext cx="25599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 dirty="0">
                <a:solidFill>
                  <a:srgbClr val="6746AA"/>
                </a:solidFill>
                <a:effectLst/>
                <a:uFillTx/>
                <a:latin typeface="Aptos"/>
              </a:rPr>
              <a:t>PROBLEM</a:t>
            </a:r>
            <a:endParaRPr lang="en-US" sz="2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24"/>
          <p:cNvSpPr/>
          <p:nvPr/>
        </p:nvSpPr>
        <p:spPr>
          <a:xfrm>
            <a:off x="474517" y="2720160"/>
            <a:ext cx="2724480" cy="257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18360" rIns="18360" bIns="18360" anchor="t">
            <a:spAutoFit/>
          </a:bodyPr>
          <a:lstStyle/>
          <a:p>
            <a:pPr defTabSz="457200">
              <a:lnSpc>
                <a:spcPct val="102000"/>
              </a:lnSpc>
              <a:spcAft>
                <a:spcPts val="601"/>
              </a:spcAft>
            </a:pPr>
            <a:r>
              <a:rPr lang="en-US" sz="1400" b="0" u="none" strike="noStrike" dirty="0">
                <a:solidFill>
                  <a:srgbClr val="141414"/>
                </a:solidFill>
                <a:effectLst/>
                <a:uFillTx/>
                <a:latin typeface="Aptos"/>
              </a:rPr>
              <a:t>• Voice audio is too data-intensive for low-rate links.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601"/>
              </a:spcAft>
            </a:pPr>
            <a:r>
              <a:rPr lang="en-US" sz="1400" b="0" u="none" strike="noStrike" dirty="0">
                <a:solidFill>
                  <a:srgbClr val="141414"/>
                </a:solidFill>
                <a:effectLst/>
                <a:uFillTx/>
                <a:latin typeface="Aptos"/>
              </a:rPr>
              <a:t>• Text alerts exclude non-literate users.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601"/>
              </a:spcAft>
            </a:pPr>
            <a:r>
              <a:rPr lang="en-US" sz="1400" b="0" u="none" strike="noStrike" dirty="0">
                <a:solidFill>
                  <a:srgbClr val="141414"/>
                </a:solidFill>
                <a:effectLst/>
                <a:uFillTx/>
                <a:latin typeface="Aptos"/>
              </a:rPr>
              <a:t>• STT must trigger on pauses, form sentences, and stream instantly.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601"/>
              </a:spcAft>
            </a:pPr>
            <a:r>
              <a:rPr lang="en-US" sz="1400" b="0" u="none" strike="noStrike" dirty="0">
                <a:solidFill>
                  <a:srgbClr val="141414"/>
                </a:solidFill>
                <a:effectLst/>
                <a:uFillTx/>
                <a:latin typeface="Aptos"/>
              </a:rPr>
              <a:t>• Alerts must be voice: max-volume, non-interruptible.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601"/>
              </a:spcAft>
            </a:pPr>
            <a:r>
              <a:rPr lang="en-US" sz="1400" b="0" u="none" strike="noStrike" dirty="0">
                <a:solidFill>
                  <a:srgbClr val="141414"/>
                </a:solidFill>
                <a:effectLst/>
                <a:uFillTx/>
                <a:latin typeface="Aptos"/>
              </a:rPr>
              <a:t>• 10 Indian languages, offline, on low-power phones.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ounded Rectangle 25"/>
          <p:cNvSpPr/>
          <p:nvPr/>
        </p:nvSpPr>
        <p:spPr>
          <a:xfrm>
            <a:off x="3618074" y="1870861"/>
            <a:ext cx="4321585" cy="47419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4141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Box 26"/>
          <p:cNvSpPr/>
          <p:nvPr/>
        </p:nvSpPr>
        <p:spPr>
          <a:xfrm>
            <a:off x="3918240" y="2090949"/>
            <a:ext cx="3702960" cy="44482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300" b="1" u="none" strike="noStrike" dirty="0">
                <a:solidFill>
                  <a:srgbClr val="141414"/>
                </a:solidFill>
                <a:effectLst/>
                <a:uFillTx/>
                <a:latin typeface="Aptos"/>
              </a:rPr>
              <a:t>Our Solution</a:t>
            </a:r>
            <a:endParaRPr lang="en-US" sz="2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ounded Rectangle 27"/>
          <p:cNvSpPr/>
          <p:nvPr/>
        </p:nvSpPr>
        <p:spPr>
          <a:xfrm>
            <a:off x="3899880" y="2560320"/>
            <a:ext cx="529920" cy="643314"/>
          </a:xfrm>
          <a:prstGeom prst="roundRect">
            <a:avLst>
              <a:gd name="adj" fmla="val 16667"/>
            </a:avLst>
          </a:prstGeom>
          <a:solidFill>
            <a:srgbClr val="CDE2F6"/>
          </a:solidFill>
          <a:ln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4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28"/>
          <p:cNvSpPr/>
          <p:nvPr/>
        </p:nvSpPr>
        <p:spPr>
          <a:xfrm>
            <a:off x="3899880" y="2486663"/>
            <a:ext cx="529920" cy="7833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endParaRPr lang="en-US" sz="900" b="1" u="none" strike="noStrike" dirty="0">
              <a:solidFill>
                <a:srgbClr val="181E2D"/>
              </a:solidFill>
              <a:effectLst/>
              <a:uFillTx/>
              <a:latin typeface="Aptos"/>
            </a:endParaRPr>
          </a:p>
          <a:p>
            <a:pPr algn="ctr" defTabSz="457200">
              <a:lnSpc>
                <a:spcPct val="100000"/>
              </a:lnSpc>
            </a:pPr>
            <a:endParaRPr lang="en-US" sz="900" b="1" dirty="0">
              <a:solidFill>
                <a:srgbClr val="181E2D"/>
              </a:solidFill>
              <a:latin typeface="Aptos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1" u="none" strike="noStrike" dirty="0">
                <a:solidFill>
                  <a:srgbClr val="181E2D"/>
                </a:solidFill>
                <a:effectLst/>
                <a:uFillTx/>
                <a:latin typeface="Aptos"/>
              </a:rPr>
              <a:t>MIC</a:t>
            </a:r>
          </a:p>
          <a:p>
            <a:pPr algn="ctr" defTabSz="457200">
              <a:lnSpc>
                <a:spcPct val="100000"/>
              </a:lnSpc>
            </a:pPr>
            <a:endParaRPr lang="en-US" sz="900" b="1" dirty="0">
              <a:solidFill>
                <a:srgbClr val="181E2D"/>
              </a:solidFill>
              <a:latin typeface="Aptos"/>
            </a:endParaRPr>
          </a:p>
          <a:p>
            <a:pPr algn="ctr" defTabSz="457200">
              <a:lnSpc>
                <a:spcPct val="100000"/>
              </a:lnSpc>
            </a:pPr>
            <a:endParaRPr lang="en-US" sz="900" b="1" u="none" strike="noStrike" dirty="0">
              <a:solidFill>
                <a:srgbClr val="181E2D"/>
              </a:solidFill>
              <a:effectLst/>
              <a:uFillTx/>
              <a:latin typeface="Aptos"/>
            </a:endParaRPr>
          </a:p>
        </p:txBody>
      </p:sp>
      <p:sp>
        <p:nvSpPr>
          <p:cNvPr id="82" name="Rounded Rectangle 29"/>
          <p:cNvSpPr/>
          <p:nvPr/>
        </p:nvSpPr>
        <p:spPr>
          <a:xfrm>
            <a:off x="4512600" y="2560320"/>
            <a:ext cx="529920" cy="643314"/>
          </a:xfrm>
          <a:prstGeom prst="roundRect">
            <a:avLst>
              <a:gd name="adj" fmla="val 16667"/>
            </a:avLst>
          </a:prstGeom>
          <a:solidFill>
            <a:srgbClr val="FFEEDC"/>
          </a:solidFill>
          <a:ln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30"/>
          <p:cNvSpPr/>
          <p:nvPr/>
        </p:nvSpPr>
        <p:spPr>
          <a:xfrm>
            <a:off x="4546041" y="2784361"/>
            <a:ext cx="451119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1" u="none" strike="noStrike" dirty="0">
                <a:solidFill>
                  <a:srgbClr val="181E2D"/>
                </a:solidFill>
                <a:effectLst/>
                <a:uFillTx/>
                <a:latin typeface="Aptos"/>
              </a:rPr>
              <a:t> VAD</a:t>
            </a:r>
          </a:p>
          <a:p>
            <a:pPr algn="ctr" defTabSz="457200">
              <a:lnSpc>
                <a:spcPct val="100000"/>
              </a:lnSpc>
            </a:pPr>
            <a:endParaRPr lang="en-US" sz="900" b="1" u="none" strike="noStrike" dirty="0">
              <a:solidFill>
                <a:srgbClr val="181E2D"/>
              </a:solidFill>
              <a:effectLst/>
              <a:uFillTx/>
              <a:latin typeface="Aptos"/>
            </a:endParaRPr>
          </a:p>
        </p:txBody>
      </p:sp>
      <p:sp>
        <p:nvSpPr>
          <p:cNvPr id="84" name="Rounded Rectangle 31"/>
          <p:cNvSpPr/>
          <p:nvPr/>
        </p:nvSpPr>
        <p:spPr>
          <a:xfrm>
            <a:off x="5125320" y="2560320"/>
            <a:ext cx="529920" cy="643314"/>
          </a:xfrm>
          <a:prstGeom prst="roundRect">
            <a:avLst>
              <a:gd name="adj" fmla="val 16667"/>
            </a:avLst>
          </a:prstGeom>
          <a:solidFill>
            <a:srgbClr val="E1F6E9"/>
          </a:solidFill>
          <a:ln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32"/>
          <p:cNvSpPr/>
          <p:nvPr/>
        </p:nvSpPr>
        <p:spPr>
          <a:xfrm>
            <a:off x="5125320" y="2356502"/>
            <a:ext cx="52992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endParaRPr lang="en-US" sz="900" b="1" u="none" strike="noStrike" dirty="0">
              <a:solidFill>
                <a:srgbClr val="181E2D"/>
              </a:solidFill>
              <a:effectLst/>
              <a:uFillTx/>
              <a:latin typeface="Aptos"/>
            </a:endParaRPr>
          </a:p>
          <a:p>
            <a:pPr algn="ctr" defTabSz="457200">
              <a:lnSpc>
                <a:spcPct val="100000"/>
              </a:lnSpc>
            </a:pPr>
            <a:endParaRPr lang="en-US" sz="900" b="1" dirty="0">
              <a:solidFill>
                <a:srgbClr val="181E2D"/>
              </a:solidFill>
              <a:latin typeface="Aptos"/>
            </a:endParaRPr>
          </a:p>
          <a:p>
            <a:pPr algn="ctr" defTabSz="457200">
              <a:lnSpc>
                <a:spcPct val="100000"/>
              </a:lnSpc>
            </a:pPr>
            <a:endParaRPr lang="en-US" sz="900" b="1" u="none" strike="noStrike" dirty="0">
              <a:solidFill>
                <a:srgbClr val="181E2D"/>
              </a:solidFill>
              <a:effectLst/>
              <a:uFillTx/>
              <a:latin typeface="Aptos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1" u="none" strike="noStrike" dirty="0">
                <a:solidFill>
                  <a:srgbClr val="181E2D"/>
                </a:solidFill>
                <a:effectLst/>
                <a:uFillTx/>
                <a:latin typeface="Aptos"/>
              </a:rPr>
              <a:t>STT</a:t>
            </a:r>
            <a:endParaRPr lang="en-US" sz="7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ounded Rectangle 33"/>
          <p:cNvSpPr/>
          <p:nvPr/>
        </p:nvSpPr>
        <p:spPr>
          <a:xfrm>
            <a:off x="5738040" y="2560320"/>
            <a:ext cx="529920" cy="643314"/>
          </a:xfrm>
          <a:prstGeom prst="roundRect">
            <a:avLst>
              <a:gd name="adj" fmla="val 16667"/>
            </a:avLst>
          </a:prstGeom>
          <a:solidFill>
            <a:srgbClr val="EFE6FC"/>
          </a:solidFill>
          <a:ln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Box 34"/>
          <p:cNvSpPr/>
          <p:nvPr/>
        </p:nvSpPr>
        <p:spPr>
          <a:xfrm>
            <a:off x="5738040" y="2342652"/>
            <a:ext cx="529920" cy="6725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endParaRPr lang="en-US" sz="720" b="1" u="none" strike="noStrike" dirty="0">
              <a:solidFill>
                <a:srgbClr val="181E2D"/>
              </a:solidFill>
              <a:effectLst/>
              <a:uFillTx/>
              <a:latin typeface="Aptos"/>
            </a:endParaRPr>
          </a:p>
          <a:p>
            <a:pPr algn="ctr" defTabSz="457200">
              <a:lnSpc>
                <a:spcPct val="100000"/>
              </a:lnSpc>
            </a:pPr>
            <a:endParaRPr lang="en-US" sz="720" b="1" dirty="0">
              <a:solidFill>
                <a:srgbClr val="181E2D"/>
              </a:solidFill>
              <a:latin typeface="Aptos"/>
            </a:endParaRPr>
          </a:p>
          <a:p>
            <a:pPr algn="ctr" defTabSz="457200">
              <a:lnSpc>
                <a:spcPct val="100000"/>
              </a:lnSpc>
            </a:pPr>
            <a:endParaRPr lang="en-US" sz="720" b="1" u="none" strike="noStrike" dirty="0">
              <a:solidFill>
                <a:srgbClr val="181E2D"/>
              </a:solidFill>
              <a:effectLst/>
              <a:uFillTx/>
              <a:latin typeface="Aptos"/>
            </a:endParaRPr>
          </a:p>
          <a:p>
            <a:pPr algn="ctr" defTabSz="457200">
              <a:lnSpc>
                <a:spcPct val="100000"/>
              </a:lnSpc>
            </a:pPr>
            <a:endParaRPr lang="en-US" sz="720" b="1" dirty="0">
              <a:solidFill>
                <a:srgbClr val="181E2D"/>
              </a:solidFill>
              <a:latin typeface="Aptos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720" b="1" u="none" strike="noStrike" dirty="0">
                <a:solidFill>
                  <a:srgbClr val="181E2D"/>
                </a:solidFill>
                <a:effectLst/>
                <a:uFillTx/>
                <a:latin typeface="Aptos"/>
              </a:rPr>
              <a:t>≤</a:t>
            </a:r>
            <a:r>
              <a:rPr lang="en-US" sz="900" b="1" u="none" strike="noStrike" dirty="0">
                <a:solidFill>
                  <a:srgbClr val="181E2D"/>
                </a:solidFill>
                <a:effectLst/>
                <a:uFillTx/>
                <a:latin typeface="Aptos"/>
              </a:rPr>
              <a:t>38B</a:t>
            </a:r>
            <a:endParaRPr lang="en-US" sz="7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35"/>
          <p:cNvSpPr/>
          <p:nvPr/>
        </p:nvSpPr>
        <p:spPr>
          <a:xfrm>
            <a:off x="6350400" y="2560320"/>
            <a:ext cx="529920" cy="643314"/>
          </a:xfrm>
          <a:prstGeom prst="roundRect">
            <a:avLst>
              <a:gd name="adj" fmla="val 16667"/>
            </a:avLst>
          </a:prstGeom>
          <a:solidFill>
            <a:srgbClr val="E8F3FC"/>
          </a:solidFill>
          <a:ln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36"/>
          <p:cNvSpPr/>
          <p:nvPr/>
        </p:nvSpPr>
        <p:spPr>
          <a:xfrm>
            <a:off x="6350400" y="2356502"/>
            <a:ext cx="52992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endParaRPr lang="en-US" sz="900" b="1" u="none" strike="noStrike" dirty="0">
              <a:solidFill>
                <a:srgbClr val="181E2D"/>
              </a:solidFill>
              <a:effectLst/>
              <a:uFillTx/>
              <a:latin typeface="Aptos"/>
            </a:endParaRPr>
          </a:p>
          <a:p>
            <a:pPr algn="ctr" defTabSz="457200">
              <a:lnSpc>
                <a:spcPct val="100000"/>
              </a:lnSpc>
            </a:pPr>
            <a:endParaRPr lang="en-US" sz="900" b="1" dirty="0">
              <a:solidFill>
                <a:srgbClr val="181E2D"/>
              </a:solidFill>
              <a:latin typeface="Aptos"/>
            </a:endParaRPr>
          </a:p>
          <a:p>
            <a:pPr algn="ctr" defTabSz="457200">
              <a:lnSpc>
                <a:spcPct val="100000"/>
              </a:lnSpc>
            </a:pPr>
            <a:endParaRPr lang="en-US" sz="900" b="1" u="none" strike="noStrike" dirty="0">
              <a:solidFill>
                <a:srgbClr val="181E2D"/>
              </a:solidFill>
              <a:effectLst/>
              <a:uFillTx/>
              <a:latin typeface="Aptos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1" u="none" strike="noStrike" dirty="0">
                <a:solidFill>
                  <a:srgbClr val="181E2D"/>
                </a:solidFill>
                <a:effectLst/>
                <a:uFillTx/>
                <a:latin typeface="Aptos"/>
              </a:rPr>
              <a:t>MESH</a:t>
            </a:r>
            <a:endParaRPr lang="en-US" sz="7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ounded Rectangle 37"/>
          <p:cNvSpPr/>
          <p:nvPr/>
        </p:nvSpPr>
        <p:spPr>
          <a:xfrm>
            <a:off x="6963120" y="2560320"/>
            <a:ext cx="529920" cy="643314"/>
          </a:xfrm>
          <a:prstGeom prst="roundRect">
            <a:avLst>
              <a:gd name="adj" fmla="val 16667"/>
            </a:avLst>
          </a:prstGeom>
          <a:solidFill>
            <a:srgbClr val="FFEEDC"/>
          </a:solidFill>
          <a:ln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38"/>
          <p:cNvSpPr/>
          <p:nvPr/>
        </p:nvSpPr>
        <p:spPr>
          <a:xfrm>
            <a:off x="6963120" y="2356502"/>
            <a:ext cx="52992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endParaRPr lang="en-US" sz="900" b="1" u="none" strike="noStrike" dirty="0">
              <a:solidFill>
                <a:srgbClr val="181E2D"/>
              </a:solidFill>
              <a:effectLst/>
              <a:uFillTx/>
              <a:latin typeface="Aptos"/>
            </a:endParaRPr>
          </a:p>
          <a:p>
            <a:pPr algn="ctr" defTabSz="457200">
              <a:lnSpc>
                <a:spcPct val="100000"/>
              </a:lnSpc>
            </a:pPr>
            <a:endParaRPr lang="en-US" sz="900" b="1" dirty="0">
              <a:solidFill>
                <a:srgbClr val="181E2D"/>
              </a:solidFill>
              <a:latin typeface="Aptos"/>
            </a:endParaRPr>
          </a:p>
          <a:p>
            <a:pPr algn="ctr" defTabSz="457200">
              <a:lnSpc>
                <a:spcPct val="100000"/>
              </a:lnSpc>
            </a:pPr>
            <a:endParaRPr lang="en-US" sz="900" b="1" u="none" strike="noStrike" dirty="0">
              <a:solidFill>
                <a:srgbClr val="181E2D"/>
              </a:solidFill>
              <a:effectLst/>
              <a:uFillTx/>
              <a:latin typeface="Aptos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1" u="none" strike="noStrike" dirty="0">
                <a:solidFill>
                  <a:srgbClr val="181E2D"/>
                </a:solidFill>
                <a:effectLst/>
                <a:uFillTx/>
                <a:latin typeface="Aptos"/>
              </a:rPr>
              <a:t>TTS</a:t>
            </a:r>
            <a:endParaRPr lang="en-US" sz="7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46"/>
          <p:cNvSpPr/>
          <p:nvPr/>
        </p:nvSpPr>
        <p:spPr>
          <a:xfrm>
            <a:off x="8101260" y="1993319"/>
            <a:ext cx="3748680" cy="2513767"/>
          </a:xfrm>
          <a:prstGeom prst="roundRect">
            <a:avLst>
              <a:gd name="adj" fmla="val 16667"/>
            </a:avLst>
          </a:prstGeom>
          <a:solidFill>
            <a:srgbClr val="FFEEDC"/>
          </a:solidFill>
          <a:ln w="15240">
            <a:solidFill>
              <a:srgbClr val="F0DCB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47"/>
          <p:cNvSpPr/>
          <p:nvPr/>
        </p:nvSpPr>
        <p:spPr>
          <a:xfrm>
            <a:off x="8348220" y="2030220"/>
            <a:ext cx="3245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300" b="1" u="none" strike="noStrike" dirty="0">
                <a:solidFill>
                  <a:srgbClr val="141414"/>
                </a:solidFill>
                <a:effectLst/>
                <a:uFillTx/>
                <a:latin typeface="Aptos"/>
              </a:rPr>
              <a:t>Why different</a:t>
            </a:r>
            <a:endParaRPr lang="en-US" sz="2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48"/>
          <p:cNvSpPr/>
          <p:nvPr/>
        </p:nvSpPr>
        <p:spPr>
          <a:xfrm>
            <a:off x="8346886" y="2395978"/>
            <a:ext cx="3461967" cy="20341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45720" tIns="18360" rIns="18360" bIns="18360" anchor="t">
            <a:spAutoFit/>
          </a:bodyPr>
          <a:lstStyle/>
          <a:p>
            <a:pPr defTabSz="457200">
              <a:lnSpc>
                <a:spcPct val="102000"/>
              </a:lnSpc>
              <a:spcAft>
                <a:spcPts val="601"/>
              </a:spcAft>
            </a:pPr>
            <a:r>
              <a:rPr lang="en-US" sz="1200" b="0" u="none" strike="noStrike" dirty="0">
                <a:solidFill>
                  <a:srgbClr val="141414"/>
                </a:solidFill>
                <a:effectLst/>
                <a:uFillTx/>
                <a:latin typeface="Aptos"/>
              </a:rPr>
              <a:t>• Voice notes need internet + MBs; dead in blackouts.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601"/>
              </a:spcAft>
            </a:pPr>
            <a:r>
              <a:rPr lang="en-US" sz="1200" b="0" u="none" strike="noStrike" dirty="0">
                <a:solidFill>
                  <a:srgbClr val="141414"/>
                </a:solidFill>
                <a:effectLst/>
                <a:uFillTx/>
                <a:latin typeface="Aptos"/>
              </a:rPr>
              <a:t>• Radios: one language, no translation, extra hardware.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601"/>
              </a:spcAft>
            </a:pPr>
            <a:r>
              <a:rPr lang="en-US" sz="1200" b="0" u="none" strike="noStrike" dirty="0">
                <a:solidFill>
                  <a:srgbClr val="141414"/>
                </a:solidFill>
                <a:effectLst/>
                <a:uFillTx/>
                <a:latin typeface="Aptos"/>
              </a:rPr>
              <a:t>• Cloud STT: proprietary, needs network, voice leaves device.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601"/>
              </a:spcAft>
            </a:pPr>
            <a:r>
              <a:rPr lang="en-US" sz="1200" b="0" u="none" strike="noStrike" dirty="0">
                <a:solidFill>
                  <a:srgbClr val="141414"/>
                </a:solidFill>
                <a:effectLst/>
                <a:uFillTx/>
                <a:latin typeface="Aptos"/>
              </a:rPr>
              <a:t>• Text-mesh excludes non-literate users.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601"/>
              </a:spcAft>
            </a:pPr>
            <a:r>
              <a:rPr lang="en-US" sz="1200" b="0" u="none" strike="noStrike" dirty="0">
                <a:solidFill>
                  <a:srgbClr val="141414"/>
                </a:solidFill>
                <a:effectLst/>
                <a:uFillTx/>
                <a:latin typeface="Aptos"/>
              </a:rPr>
              <a:t>• Two-engine STT handles language-specific accuracy.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ounded Rectangle 49"/>
          <p:cNvSpPr/>
          <p:nvPr/>
        </p:nvSpPr>
        <p:spPr>
          <a:xfrm>
            <a:off x="8101260" y="4604003"/>
            <a:ext cx="3748680" cy="20622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4141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Box 50"/>
          <p:cNvSpPr/>
          <p:nvPr/>
        </p:nvSpPr>
        <p:spPr>
          <a:xfrm>
            <a:off x="8346886" y="4713004"/>
            <a:ext cx="3245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50" b="1" u="none" strike="noStrike" dirty="0">
                <a:solidFill>
                  <a:srgbClr val="141414"/>
                </a:solidFill>
                <a:effectLst/>
                <a:uFillTx/>
                <a:latin typeface="Aptos"/>
              </a:rPr>
              <a:t>Key Value Proposition</a:t>
            </a:r>
            <a:endParaRPr lang="en-US" sz="17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54"/>
          <p:cNvSpPr/>
          <p:nvPr/>
        </p:nvSpPr>
        <p:spPr>
          <a:xfrm>
            <a:off x="3918240" y="3594756"/>
            <a:ext cx="3610130" cy="16400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 dirty="0">
                <a:solidFill>
                  <a:srgbClr val="141414"/>
                </a:solidFill>
                <a:effectLst/>
                <a:uFillTx/>
                <a:latin typeface="Aptos"/>
              </a:rPr>
              <a:t>• </a:t>
            </a:r>
            <a:r>
              <a:rPr lang="en-US" sz="1200" b="0" u="none" strike="noStrike" dirty="0" err="1">
                <a:solidFill>
                  <a:srgbClr val="141414"/>
                </a:solidFill>
                <a:effectLst/>
                <a:uFillTx/>
                <a:latin typeface="Aptos"/>
              </a:rPr>
              <a:t>Silero</a:t>
            </a:r>
            <a:r>
              <a:rPr lang="en-US" sz="1200" b="0" u="none" strike="noStrike" dirty="0">
                <a:solidFill>
                  <a:srgbClr val="141414"/>
                </a:solidFill>
                <a:effectLst/>
                <a:uFillTx/>
                <a:latin typeface="Aptos"/>
              </a:rPr>
              <a:t> pause-detect → dual-engine STT → sentence formation.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 dirty="0">
                <a:solidFill>
                  <a:srgbClr val="141414"/>
                </a:solidFill>
                <a:effectLst/>
                <a:uFillTx/>
                <a:latin typeface="Aptos"/>
              </a:rPr>
              <a:t>• Speech → ≤38 B token: &lt;300 bps, one UDP packet.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 dirty="0">
                <a:solidFill>
                  <a:srgbClr val="141414"/>
                </a:solidFill>
                <a:effectLst/>
                <a:uFillTx/>
                <a:latin typeface="Aptos"/>
              </a:rPr>
              <a:t>• Wi-Fi Direct / BT mesh; ChaCha20 + RS-FEC repair.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 dirty="0">
                <a:solidFill>
                  <a:srgbClr val="141414"/>
                </a:solidFill>
                <a:effectLst/>
                <a:uFillTx/>
                <a:latin typeface="Aptos"/>
              </a:rPr>
              <a:t>• Receiver TTS in own language; SOS siren override.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 dirty="0">
                <a:solidFill>
                  <a:srgbClr val="141414"/>
                </a:solidFill>
                <a:effectLst/>
                <a:uFillTx/>
                <a:latin typeface="Aptos"/>
              </a:rPr>
              <a:t>• PTT walkie-talkie / phone / SOS; 100% open-source, zero cloud.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ounded Rectangle 55"/>
          <p:cNvSpPr/>
          <p:nvPr/>
        </p:nvSpPr>
        <p:spPr>
          <a:xfrm>
            <a:off x="3871130" y="5414148"/>
            <a:ext cx="3657240" cy="793804"/>
          </a:xfrm>
          <a:prstGeom prst="roundRect">
            <a:avLst>
              <a:gd name="adj" fmla="val 16667"/>
            </a:avLst>
          </a:prstGeom>
          <a:solidFill>
            <a:srgbClr val="FFEEDC"/>
          </a:solidFill>
          <a:ln w="15240">
            <a:solidFill>
              <a:srgbClr val="E86823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200" b="1">
                <a:solidFill>
                  <a:srgbClr val="181E2D"/>
                </a:solidFill>
                <a:latin typeface="Aptos"/>
              </a:rPr>
              <a:t>P1 shipped → P2 Kathbath 1,700 h + Vaani 7,000 h → P3 synthetic disaster vocabulary</a:t>
            </a:r>
            <a:endParaRPr lang="en-US" sz="12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818983-25C1-929A-B8C9-985C891BD834}"/>
              </a:ext>
            </a:extLst>
          </p:cNvPr>
          <p:cNvSpPr txBox="1"/>
          <p:nvPr/>
        </p:nvSpPr>
        <p:spPr>
          <a:xfrm>
            <a:off x="4852412" y="198150"/>
            <a:ext cx="28310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 TITLE</a:t>
            </a:r>
            <a:endParaRPr lang="en-IN" sz="3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EDC8615-0A88-521E-4330-B997F6DAD6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4" name="Oval 13" descr="Your startup LOGO">
            <a:extLst>
              <a:ext uri="{FF2B5EF4-FFF2-40B4-BE49-F238E27FC236}">
                <a16:creationId xmlns:a16="http://schemas.microsoft.com/office/drawing/2014/main" id="{37B17FBE-DD57-9FA5-7592-5EAE7781BBF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Algo Avengers</a:t>
            </a:r>
            <a:endParaRPr lang="en-IN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6D182E-A983-D9A2-C669-AAF305DD9D96}"/>
              </a:ext>
            </a:extLst>
          </p:cNvPr>
          <p:cNvSpPr txBox="1"/>
          <p:nvPr/>
        </p:nvSpPr>
        <p:spPr>
          <a:xfrm>
            <a:off x="8271920" y="5041214"/>
            <a:ext cx="3245759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875">
                <a:solidFill>
                  <a:srgbClr val="232328"/>
                </a:solidFill>
                <a:latin typeface="Aptos"/>
              </a:defRPr>
            </a:pPr>
            <a:r>
              <a:rPr lang="en-US" sz="1200" dirty="0"/>
              <a:t>• Universal Accessibility: hands-free, voice-first communication for non-literate citizens and rescue workers.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875">
                <a:solidFill>
                  <a:srgbClr val="232328"/>
                </a:solidFill>
                <a:latin typeface="Aptos"/>
              </a:defRPr>
            </a:pPr>
            <a:r>
              <a:rPr lang="en-US" sz="1200" dirty="0"/>
              <a:t>• Tactical Resilience: operates during total telecom blackout.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875">
                <a:solidFill>
                  <a:srgbClr val="232328"/>
                </a:solidFill>
                <a:latin typeface="Aptos"/>
              </a:defRPr>
            </a:pPr>
            <a:r>
              <a:rPr lang="en-US" sz="1200" dirty="0"/>
              <a:t>• Hardware Efficiency: entry-level $80 Android smartphones; &lt;3%/</a:t>
            </a:r>
            <a:r>
              <a:rPr lang="en-US" sz="1200" dirty="0" err="1"/>
              <a:t>hr</a:t>
            </a:r>
            <a:r>
              <a:rPr lang="en-US" sz="1200" dirty="0"/>
              <a:t> battery drain.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A0358EC-8FBD-E8B9-CFB8-79A8CDFA4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0065" y="270817"/>
            <a:ext cx="2220547" cy="111342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190A643-6FC8-BD58-F026-A77D78CB85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235" y="5675363"/>
            <a:ext cx="2746270" cy="10404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57781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3117F1E6-CDB5-BF72-A646-4E36A1B5320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Algo Avengers</a:t>
            </a:r>
            <a:endParaRPr lang="en-IN" sz="1400" dirty="0"/>
          </a:p>
        </p:txBody>
      </p:sp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8B3594E5-270A-5BFA-0617-0E8CCA61ECA6}"/>
              </a:ext>
            </a:extLst>
          </p:cNvPr>
          <p:cNvSpPr/>
          <p:nvPr/>
        </p:nvSpPr>
        <p:spPr>
          <a:xfrm>
            <a:off x="592838" y="1724563"/>
            <a:ext cx="7141464" cy="476136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ED3A8B-FEB9-329E-0152-1C9BB1CC9FDF}"/>
              </a:ext>
            </a:extLst>
          </p:cNvPr>
          <p:cNvSpPr txBox="1"/>
          <p:nvPr/>
        </p:nvSpPr>
        <p:spPr>
          <a:xfrm>
            <a:off x="685800" y="1209914"/>
            <a:ext cx="7132320" cy="40011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2000" b="1" dirty="0">
                <a:solidFill>
                  <a:srgbClr val="6F48A8"/>
                </a:solidFill>
                <a:latin typeface="Aptos"/>
              </a:rPr>
              <a:t>SYSTEM ARCHITECTURE</a:t>
            </a:r>
          </a:p>
        </p:txBody>
      </p:sp>
      <p:sp>
        <p:nvSpPr>
          <p:cNvPr id="17536" name="TextBox 17535">
            <a:extLst>
              <a:ext uri="{FF2B5EF4-FFF2-40B4-BE49-F238E27FC236}">
                <a16:creationId xmlns:a16="http://schemas.microsoft.com/office/drawing/2014/main" id="{3EB21A9D-BBE7-9F82-7FCF-33E1B534C440}"/>
              </a:ext>
            </a:extLst>
          </p:cNvPr>
          <p:cNvSpPr txBox="1"/>
          <p:nvPr/>
        </p:nvSpPr>
        <p:spPr>
          <a:xfrm>
            <a:off x="8926966" y="1091314"/>
            <a:ext cx="898971" cy="1090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IN" sz="1200" b="1" dirty="0">
                <a:solidFill>
                  <a:srgbClr val="584053"/>
                </a:solidFill>
                <a:latin typeface="Montserrat"/>
              </a:rPr>
              <a:t>                                        Tech Stack Used</a:t>
            </a:r>
          </a:p>
        </p:txBody>
      </p:sp>
      <p:pic>
        <p:nvPicPr>
          <p:cNvPr id="17551" name="Picture 17550">
            <a:extLst>
              <a:ext uri="{FF2B5EF4-FFF2-40B4-BE49-F238E27FC236}">
                <a16:creationId xmlns:a16="http://schemas.microsoft.com/office/drawing/2014/main" id="{65549D6D-E907-6493-D944-0B496176DF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2762" y="1425677"/>
            <a:ext cx="2844800" cy="50387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C4DA3318-64A2-72E1-7EBD-79F3A352765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Algo Avengers</a:t>
            </a:r>
            <a:endParaRPr lang="en-IN" sz="1400" dirty="0"/>
          </a:p>
        </p:txBody>
      </p:sp>
      <p:sp>
        <p:nvSpPr>
          <p:cNvPr id="13" name="Rounded Rectangle 8">
            <a:extLst>
              <a:ext uri="{FF2B5EF4-FFF2-40B4-BE49-F238E27FC236}">
                <a16:creationId xmlns:a16="http://schemas.microsoft.com/office/drawing/2014/main" id="{198D34F9-BA1B-92FC-D3FB-B197CB1662A6}"/>
              </a:ext>
            </a:extLst>
          </p:cNvPr>
          <p:cNvSpPr/>
          <p:nvPr/>
        </p:nvSpPr>
        <p:spPr>
          <a:xfrm>
            <a:off x="498399" y="1120288"/>
            <a:ext cx="7626096" cy="2526446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76DDCA-E010-F9A7-1B0C-0895F18FDCD1}"/>
              </a:ext>
            </a:extLst>
          </p:cNvPr>
          <p:cNvSpPr txBox="1"/>
          <p:nvPr/>
        </p:nvSpPr>
        <p:spPr>
          <a:xfrm>
            <a:off x="980996" y="1218076"/>
            <a:ext cx="7150608" cy="228600"/>
          </a:xfrm>
          <a:prstGeom prst="rect">
            <a:avLst/>
          </a:prstGeom>
          <a:noFill/>
        </p:spPr>
        <p:txBody>
          <a:bodyPr wrap="square" lIns="13716" tIns="4572" rIns="13716" bIns="4572" anchor="t">
            <a:spAutoFit/>
          </a:bodyPr>
          <a:lstStyle/>
          <a:p>
            <a:pPr algn="l"/>
            <a:r>
              <a:rPr sz="1200" b="1" dirty="0">
                <a:solidFill>
                  <a:srgbClr val="6F48A8"/>
                </a:solidFill>
                <a:latin typeface="Aptos"/>
              </a:rPr>
              <a:t>RISK ASSESSMENT &amp; MITIGATION</a:t>
            </a:r>
          </a:p>
        </p:txBody>
      </p:sp>
      <p:sp>
        <p:nvSpPr>
          <p:cNvPr id="41" name="Rounded Rectangle 22">
            <a:extLst>
              <a:ext uri="{FF2B5EF4-FFF2-40B4-BE49-F238E27FC236}">
                <a16:creationId xmlns:a16="http://schemas.microsoft.com/office/drawing/2014/main" id="{502444B3-48CA-9CDC-FB3A-1EA72ABCFB8B}"/>
              </a:ext>
            </a:extLst>
          </p:cNvPr>
          <p:cNvSpPr/>
          <p:nvPr/>
        </p:nvSpPr>
        <p:spPr>
          <a:xfrm>
            <a:off x="8296010" y="1081101"/>
            <a:ext cx="3603381" cy="248716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0003C26-1443-6398-B35D-2AA16E526A87}"/>
              </a:ext>
            </a:extLst>
          </p:cNvPr>
          <p:cNvSpPr txBox="1"/>
          <p:nvPr/>
        </p:nvSpPr>
        <p:spPr>
          <a:xfrm>
            <a:off x="8267212" y="1191420"/>
            <a:ext cx="3383280" cy="378565"/>
          </a:xfrm>
          <a:prstGeom prst="rect">
            <a:avLst/>
          </a:prstGeom>
          <a:noFill/>
        </p:spPr>
        <p:txBody>
          <a:bodyPr wrap="square" lIns="13716" tIns="4572" rIns="13716" bIns="4572" anchor="t">
            <a:spAutoFit/>
          </a:bodyPr>
          <a:lstStyle/>
          <a:p>
            <a:pPr algn="ctr"/>
            <a:r>
              <a:rPr sz="1200" b="1" dirty="0">
                <a:solidFill>
                  <a:srgbClr val="6F48A8"/>
                </a:solidFill>
                <a:latin typeface="Aptos"/>
              </a:rPr>
              <a:t>OPERATIONAL FEASIBILITY
&amp; HARDWARE OVERHEAD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7D64F0-8502-4ABC-0107-583DC4F49E76}"/>
              </a:ext>
            </a:extLst>
          </p:cNvPr>
          <p:cNvSpPr txBox="1"/>
          <p:nvPr/>
        </p:nvSpPr>
        <p:spPr>
          <a:xfrm>
            <a:off x="8737599" y="1603490"/>
            <a:ext cx="2902711" cy="1871666"/>
          </a:xfrm>
          <a:prstGeom prst="rect">
            <a:avLst/>
          </a:prstGeom>
          <a:noFill/>
        </p:spPr>
        <p:txBody>
          <a:bodyPr wrap="square" lIns="9144" rIns="9144">
            <a:spAutoFit/>
          </a:bodyPr>
          <a:lstStyle/>
          <a:p>
            <a:pPr>
              <a:lnSpc>
                <a:spcPct val="93000"/>
              </a:lnSpc>
              <a:spcAft>
                <a:spcPts val="400"/>
              </a:spcAft>
              <a:defRPr sz="805">
                <a:solidFill>
                  <a:srgbClr val="232328"/>
                </a:solidFill>
                <a:latin typeface="Aptos"/>
              </a:defRPr>
            </a:pPr>
            <a:r>
              <a:rPr sz="1100" dirty="0"/>
              <a:t>• </a:t>
            </a:r>
            <a:r>
              <a:rPr sz="1100" b="1" dirty="0"/>
              <a:t>Target Hardware: </a:t>
            </a:r>
            <a:r>
              <a:rPr sz="1100" dirty="0"/>
              <a:t>Entry-level Android smartphones (Android 8.0+ / API 26+).</a:t>
            </a:r>
          </a:p>
          <a:p>
            <a:pPr>
              <a:lnSpc>
                <a:spcPct val="93000"/>
              </a:lnSpc>
              <a:spcAft>
                <a:spcPts val="400"/>
              </a:spcAft>
              <a:defRPr sz="805">
                <a:solidFill>
                  <a:srgbClr val="232328"/>
                </a:solidFill>
                <a:latin typeface="Aptos"/>
              </a:defRPr>
            </a:pPr>
            <a:r>
              <a:rPr sz="1100" dirty="0"/>
              <a:t>• </a:t>
            </a:r>
            <a:r>
              <a:rPr sz="1100" b="1" dirty="0"/>
              <a:t>CPU Utilization: </a:t>
            </a:r>
            <a:r>
              <a:rPr sz="1100" dirty="0"/>
              <a:t>&lt;8% average during active voice processing (INT8 SIMD).</a:t>
            </a:r>
          </a:p>
          <a:p>
            <a:pPr>
              <a:lnSpc>
                <a:spcPct val="93000"/>
              </a:lnSpc>
              <a:spcAft>
                <a:spcPts val="400"/>
              </a:spcAft>
              <a:defRPr sz="805">
                <a:solidFill>
                  <a:srgbClr val="232328"/>
                </a:solidFill>
                <a:latin typeface="Aptos"/>
              </a:defRPr>
            </a:pPr>
            <a:r>
              <a:rPr sz="1100" dirty="0"/>
              <a:t>• </a:t>
            </a:r>
            <a:r>
              <a:rPr sz="1100" b="1" dirty="0"/>
              <a:t>Power Draw: </a:t>
            </a:r>
            <a:r>
              <a:rPr sz="1100" dirty="0"/>
              <a:t>~45 mA average current; &lt;3% battery drain/hour.</a:t>
            </a:r>
          </a:p>
          <a:p>
            <a:pPr>
              <a:lnSpc>
                <a:spcPct val="93000"/>
              </a:lnSpc>
              <a:spcAft>
                <a:spcPts val="400"/>
              </a:spcAft>
              <a:defRPr sz="805">
                <a:solidFill>
                  <a:srgbClr val="232328"/>
                </a:solidFill>
                <a:latin typeface="Aptos"/>
              </a:defRPr>
            </a:pPr>
            <a:r>
              <a:rPr sz="1100" b="1" dirty="0"/>
              <a:t>• RAM Footprint: </a:t>
            </a:r>
            <a:r>
              <a:rPr sz="1100" dirty="0"/>
              <a:t>~150 MB during active inference on quad-core ARM64.</a:t>
            </a:r>
          </a:p>
          <a:p>
            <a:pPr>
              <a:lnSpc>
                <a:spcPct val="93000"/>
              </a:lnSpc>
              <a:spcAft>
                <a:spcPts val="400"/>
              </a:spcAft>
              <a:defRPr sz="805">
                <a:solidFill>
                  <a:srgbClr val="232328"/>
                </a:solidFill>
                <a:latin typeface="Aptos"/>
              </a:defRPr>
            </a:pPr>
            <a:r>
              <a:rPr sz="1100" dirty="0"/>
              <a:t>• </a:t>
            </a:r>
            <a:r>
              <a:rPr sz="1100" b="1" dirty="0"/>
              <a:t>Zero Infrastructure: </a:t>
            </a:r>
            <a:r>
              <a:rPr sz="1100" dirty="0"/>
              <a:t>100% offline — no cell towers, satellite, or cloud.</a:t>
            </a:r>
          </a:p>
        </p:txBody>
      </p:sp>
      <p:sp>
        <p:nvSpPr>
          <p:cNvPr id="47" name="Rounded Rectangle 25">
            <a:extLst>
              <a:ext uri="{FF2B5EF4-FFF2-40B4-BE49-F238E27FC236}">
                <a16:creationId xmlns:a16="http://schemas.microsoft.com/office/drawing/2014/main" id="{9A742EEB-9ADC-0F46-155A-BD7E4082CD3B}"/>
              </a:ext>
            </a:extLst>
          </p:cNvPr>
          <p:cNvSpPr/>
          <p:nvPr/>
        </p:nvSpPr>
        <p:spPr>
          <a:xfrm>
            <a:off x="292608" y="3744522"/>
            <a:ext cx="3703320" cy="2861231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2122C92-7198-2279-826C-C8E95CE87AEC}"/>
              </a:ext>
            </a:extLst>
          </p:cNvPr>
          <p:cNvSpPr txBox="1"/>
          <p:nvPr/>
        </p:nvSpPr>
        <p:spPr>
          <a:xfrm>
            <a:off x="777240" y="3842522"/>
            <a:ext cx="3218688" cy="178510"/>
          </a:xfrm>
          <a:prstGeom prst="rect">
            <a:avLst/>
          </a:prstGeom>
          <a:noFill/>
        </p:spPr>
        <p:txBody>
          <a:bodyPr wrap="square" lIns="13716" tIns="4572" rIns="13716" bIns="4572" anchor="t">
            <a:spAutoFit/>
          </a:bodyPr>
          <a:lstStyle/>
          <a:p>
            <a:pPr algn="l"/>
            <a:r>
              <a:rPr sz="1100" b="1" dirty="0">
                <a:solidFill>
                  <a:srgbClr val="6F48A8"/>
                </a:solidFill>
                <a:latin typeface="Aptos"/>
              </a:rPr>
              <a:t>VALIDATION &amp; FIELD MEASUREMENTS</a:t>
            </a:r>
          </a:p>
        </p:txBody>
      </p:sp>
      <p:sp>
        <p:nvSpPr>
          <p:cNvPr id="55" name="Rounded Rectangle 29">
            <a:extLst>
              <a:ext uri="{FF2B5EF4-FFF2-40B4-BE49-F238E27FC236}">
                <a16:creationId xmlns:a16="http://schemas.microsoft.com/office/drawing/2014/main" id="{67815379-32FB-87DB-3D55-C1743C174B55}"/>
              </a:ext>
            </a:extLst>
          </p:cNvPr>
          <p:cNvSpPr/>
          <p:nvPr/>
        </p:nvSpPr>
        <p:spPr>
          <a:xfrm>
            <a:off x="4175437" y="4127454"/>
            <a:ext cx="3822191" cy="2411461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9DEC1DD-1514-49F5-2672-C69210007934}"/>
              </a:ext>
            </a:extLst>
          </p:cNvPr>
          <p:cNvSpPr txBox="1"/>
          <p:nvPr/>
        </p:nvSpPr>
        <p:spPr>
          <a:xfrm>
            <a:off x="4793742" y="4354635"/>
            <a:ext cx="3364992" cy="178510"/>
          </a:xfrm>
          <a:prstGeom prst="rect">
            <a:avLst/>
          </a:prstGeom>
          <a:noFill/>
        </p:spPr>
        <p:txBody>
          <a:bodyPr wrap="square" lIns="13716" tIns="4572" rIns="13716" bIns="4572" anchor="t">
            <a:spAutoFit/>
          </a:bodyPr>
          <a:lstStyle/>
          <a:p>
            <a:pPr algn="l"/>
            <a:r>
              <a:rPr sz="1100" b="1" dirty="0">
                <a:solidFill>
                  <a:srgbClr val="6F48A8"/>
                </a:solidFill>
                <a:latin typeface="Aptos"/>
              </a:rPr>
              <a:t>PROVEN DATASETS &amp; FRAMEWORKS</a:t>
            </a:r>
          </a:p>
        </p:txBody>
      </p:sp>
      <p:sp>
        <p:nvSpPr>
          <p:cNvPr id="59" name="Rounded Rectangle 31">
            <a:extLst>
              <a:ext uri="{FF2B5EF4-FFF2-40B4-BE49-F238E27FC236}">
                <a16:creationId xmlns:a16="http://schemas.microsoft.com/office/drawing/2014/main" id="{28D25B2D-5496-0532-6F85-DB9B655FEC57}"/>
              </a:ext>
            </a:extLst>
          </p:cNvPr>
          <p:cNvSpPr/>
          <p:nvPr/>
        </p:nvSpPr>
        <p:spPr>
          <a:xfrm>
            <a:off x="4367460" y="4583482"/>
            <a:ext cx="3438144" cy="274320"/>
          </a:xfrm>
          <a:prstGeom prst="roundRect">
            <a:avLst/>
          </a:prstGeom>
          <a:solidFill>
            <a:srgbClr val="F1EBFA"/>
          </a:solidFill>
          <a:ln w="8255">
            <a:solidFill>
              <a:srgbClr val="6F4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52AEF4F-818A-D898-6343-3A27EF27716D}"/>
              </a:ext>
            </a:extLst>
          </p:cNvPr>
          <p:cNvSpPr txBox="1"/>
          <p:nvPr/>
        </p:nvSpPr>
        <p:spPr>
          <a:xfrm>
            <a:off x="4452791" y="4689223"/>
            <a:ext cx="3273552" cy="147733"/>
          </a:xfrm>
          <a:prstGeom prst="rect">
            <a:avLst/>
          </a:prstGeom>
          <a:noFill/>
        </p:spPr>
        <p:txBody>
          <a:bodyPr wrap="square" lIns="13716" tIns="4572" rIns="13716" bIns="4572" anchor="ctr">
            <a:spAutoFit/>
          </a:bodyPr>
          <a:lstStyle/>
          <a:p>
            <a:pPr algn="ctr"/>
            <a:r>
              <a:rPr sz="900" b="1" dirty="0">
                <a:solidFill>
                  <a:srgbClr val="232328"/>
                </a:solidFill>
                <a:latin typeface="Aptos"/>
              </a:rPr>
              <a:t>Fine-Tuned Whisper-Tiny ML Model</a:t>
            </a:r>
          </a:p>
        </p:txBody>
      </p:sp>
      <p:sp>
        <p:nvSpPr>
          <p:cNvPr id="63" name="Rounded Rectangle 33">
            <a:extLst>
              <a:ext uri="{FF2B5EF4-FFF2-40B4-BE49-F238E27FC236}">
                <a16:creationId xmlns:a16="http://schemas.microsoft.com/office/drawing/2014/main" id="{5DD4B7C5-AAE1-08CF-15CC-F74EA900298C}"/>
              </a:ext>
            </a:extLst>
          </p:cNvPr>
          <p:cNvSpPr/>
          <p:nvPr/>
        </p:nvSpPr>
        <p:spPr>
          <a:xfrm>
            <a:off x="4367460" y="4890985"/>
            <a:ext cx="3438144" cy="274320"/>
          </a:xfrm>
          <a:prstGeom prst="roundRect">
            <a:avLst/>
          </a:prstGeom>
          <a:solidFill>
            <a:srgbClr val="E0F0FA"/>
          </a:solidFill>
          <a:ln w="8255">
            <a:solidFill>
              <a:srgbClr val="408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TextBox 17410">
            <a:extLst>
              <a:ext uri="{FF2B5EF4-FFF2-40B4-BE49-F238E27FC236}">
                <a16:creationId xmlns:a16="http://schemas.microsoft.com/office/drawing/2014/main" id="{88A1FFDE-0166-9DC3-D06F-E2249130F365}"/>
              </a:ext>
            </a:extLst>
          </p:cNvPr>
          <p:cNvSpPr txBox="1"/>
          <p:nvPr/>
        </p:nvSpPr>
        <p:spPr>
          <a:xfrm>
            <a:off x="4425696" y="4975272"/>
            <a:ext cx="3273552" cy="147733"/>
          </a:xfrm>
          <a:prstGeom prst="rect">
            <a:avLst/>
          </a:prstGeom>
          <a:noFill/>
        </p:spPr>
        <p:txBody>
          <a:bodyPr wrap="square" lIns="13716" tIns="4572" rIns="13716" bIns="4572" anchor="ctr">
            <a:spAutoFit/>
          </a:bodyPr>
          <a:lstStyle/>
          <a:p>
            <a:pPr algn="ctr"/>
            <a:r>
              <a:rPr sz="900" b="1" dirty="0" err="1">
                <a:solidFill>
                  <a:srgbClr val="232328"/>
                </a:solidFill>
                <a:latin typeface="Aptos"/>
              </a:rPr>
              <a:t>Kathbath</a:t>
            </a:r>
            <a:r>
              <a:rPr sz="900" b="1" dirty="0">
                <a:solidFill>
                  <a:srgbClr val="232328"/>
                </a:solidFill>
                <a:latin typeface="Aptos"/>
              </a:rPr>
              <a:t> (1,700 </a:t>
            </a:r>
            <a:r>
              <a:rPr sz="900" b="1" dirty="0" err="1">
                <a:solidFill>
                  <a:srgbClr val="232328"/>
                </a:solidFill>
                <a:latin typeface="Aptos"/>
              </a:rPr>
              <a:t>hrs</a:t>
            </a:r>
            <a:r>
              <a:rPr sz="900" b="1" dirty="0">
                <a:solidFill>
                  <a:srgbClr val="232328"/>
                </a:solidFill>
                <a:latin typeface="Aptos"/>
              </a:rPr>
              <a:t>) + Vaani (7,000 </a:t>
            </a:r>
            <a:r>
              <a:rPr sz="900" b="1" dirty="0" err="1">
                <a:solidFill>
                  <a:srgbClr val="232328"/>
                </a:solidFill>
                <a:latin typeface="Aptos"/>
              </a:rPr>
              <a:t>hrs</a:t>
            </a:r>
            <a:r>
              <a:rPr sz="900" b="1" dirty="0">
                <a:solidFill>
                  <a:srgbClr val="232328"/>
                </a:solidFill>
                <a:latin typeface="Aptos"/>
              </a:rPr>
              <a:t>)</a:t>
            </a:r>
          </a:p>
        </p:txBody>
      </p:sp>
      <p:sp>
        <p:nvSpPr>
          <p:cNvPr id="17413" name="Rounded Rectangle 35">
            <a:extLst>
              <a:ext uri="{FF2B5EF4-FFF2-40B4-BE49-F238E27FC236}">
                <a16:creationId xmlns:a16="http://schemas.microsoft.com/office/drawing/2014/main" id="{855C9506-0269-A3EB-18C0-DF5D4E0B9851}"/>
              </a:ext>
            </a:extLst>
          </p:cNvPr>
          <p:cNvSpPr/>
          <p:nvPr/>
        </p:nvSpPr>
        <p:spPr>
          <a:xfrm>
            <a:off x="4367460" y="5190218"/>
            <a:ext cx="3455416" cy="293805"/>
          </a:xfrm>
          <a:prstGeom prst="roundRect">
            <a:avLst/>
          </a:prstGeom>
          <a:solidFill>
            <a:srgbClr val="E5F4E9"/>
          </a:solidFill>
          <a:ln w="8255">
            <a:solidFill>
              <a:srgbClr val="4C97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TextBox 17414">
            <a:extLst>
              <a:ext uri="{FF2B5EF4-FFF2-40B4-BE49-F238E27FC236}">
                <a16:creationId xmlns:a16="http://schemas.microsoft.com/office/drawing/2014/main" id="{B89857AC-6DA8-6D5E-531D-96460F5E036A}"/>
              </a:ext>
            </a:extLst>
          </p:cNvPr>
          <p:cNvSpPr txBox="1"/>
          <p:nvPr/>
        </p:nvSpPr>
        <p:spPr>
          <a:xfrm>
            <a:off x="4370832" y="5254993"/>
            <a:ext cx="3273552" cy="147733"/>
          </a:xfrm>
          <a:prstGeom prst="rect">
            <a:avLst/>
          </a:prstGeom>
          <a:noFill/>
        </p:spPr>
        <p:txBody>
          <a:bodyPr wrap="square" lIns="13716" tIns="4572" rIns="13716" bIns="4572" anchor="ctr">
            <a:spAutoFit/>
          </a:bodyPr>
          <a:lstStyle/>
          <a:p>
            <a:pPr algn="ctr"/>
            <a:r>
              <a:rPr sz="900" b="1" dirty="0" err="1">
                <a:solidFill>
                  <a:srgbClr val="232328"/>
                </a:solidFill>
                <a:latin typeface="Aptos"/>
              </a:rPr>
              <a:t>Silero</a:t>
            </a:r>
            <a:r>
              <a:rPr sz="900" b="1" dirty="0">
                <a:solidFill>
                  <a:srgbClr val="232328"/>
                </a:solidFill>
                <a:latin typeface="Aptos"/>
              </a:rPr>
              <a:t> VAD v4 Engine</a:t>
            </a:r>
          </a:p>
        </p:txBody>
      </p:sp>
      <p:sp>
        <p:nvSpPr>
          <p:cNvPr id="17417" name="Rounded Rectangle 37">
            <a:extLst>
              <a:ext uri="{FF2B5EF4-FFF2-40B4-BE49-F238E27FC236}">
                <a16:creationId xmlns:a16="http://schemas.microsoft.com/office/drawing/2014/main" id="{4E453E79-D983-AF61-D777-E79EC94A7E11}"/>
              </a:ext>
            </a:extLst>
          </p:cNvPr>
          <p:cNvSpPr/>
          <p:nvPr/>
        </p:nvSpPr>
        <p:spPr>
          <a:xfrm>
            <a:off x="4367460" y="5524225"/>
            <a:ext cx="3438144" cy="274320"/>
          </a:xfrm>
          <a:prstGeom prst="roundRect">
            <a:avLst/>
          </a:prstGeom>
          <a:solidFill>
            <a:srgbClr val="E0F0FA"/>
          </a:solidFill>
          <a:ln w="8255">
            <a:solidFill>
              <a:srgbClr val="408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TextBox 17418">
            <a:extLst>
              <a:ext uri="{FF2B5EF4-FFF2-40B4-BE49-F238E27FC236}">
                <a16:creationId xmlns:a16="http://schemas.microsoft.com/office/drawing/2014/main" id="{219857C0-370C-07DA-C1C2-2CEF27DA359A}"/>
              </a:ext>
            </a:extLst>
          </p:cNvPr>
          <p:cNvSpPr txBox="1"/>
          <p:nvPr/>
        </p:nvSpPr>
        <p:spPr>
          <a:xfrm>
            <a:off x="4459224" y="5621723"/>
            <a:ext cx="3273552" cy="147733"/>
          </a:xfrm>
          <a:prstGeom prst="rect">
            <a:avLst/>
          </a:prstGeom>
          <a:noFill/>
        </p:spPr>
        <p:txBody>
          <a:bodyPr wrap="square" lIns="13716" tIns="4572" rIns="13716" bIns="4572" anchor="ctr">
            <a:spAutoFit/>
          </a:bodyPr>
          <a:lstStyle/>
          <a:p>
            <a:pPr algn="ctr"/>
            <a:r>
              <a:rPr sz="900" b="1" dirty="0">
                <a:solidFill>
                  <a:srgbClr val="232328"/>
                </a:solidFill>
                <a:latin typeface="Aptos"/>
              </a:rPr>
              <a:t>Android Oboe Low-Latency NDK</a:t>
            </a:r>
          </a:p>
        </p:txBody>
      </p:sp>
      <p:sp>
        <p:nvSpPr>
          <p:cNvPr id="17421" name="Rounded Rectangle 39">
            <a:extLst>
              <a:ext uri="{FF2B5EF4-FFF2-40B4-BE49-F238E27FC236}">
                <a16:creationId xmlns:a16="http://schemas.microsoft.com/office/drawing/2014/main" id="{3B645396-599D-6D17-3EBD-CAC92ECD54A4}"/>
              </a:ext>
            </a:extLst>
          </p:cNvPr>
          <p:cNvSpPr/>
          <p:nvPr/>
        </p:nvSpPr>
        <p:spPr>
          <a:xfrm>
            <a:off x="4376928" y="5827633"/>
            <a:ext cx="3438144" cy="274320"/>
          </a:xfrm>
          <a:prstGeom prst="roundRect">
            <a:avLst/>
          </a:prstGeom>
          <a:solidFill>
            <a:srgbClr val="FFEEDD"/>
          </a:solidFill>
          <a:ln w="8255">
            <a:solidFill>
              <a:srgbClr val="E27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TextBox 17422">
            <a:extLst>
              <a:ext uri="{FF2B5EF4-FFF2-40B4-BE49-F238E27FC236}">
                <a16:creationId xmlns:a16="http://schemas.microsoft.com/office/drawing/2014/main" id="{E9D10848-96E2-1344-365E-2C37C5B022F6}"/>
              </a:ext>
            </a:extLst>
          </p:cNvPr>
          <p:cNvSpPr txBox="1"/>
          <p:nvPr/>
        </p:nvSpPr>
        <p:spPr>
          <a:xfrm>
            <a:off x="4425696" y="5901581"/>
            <a:ext cx="3273552" cy="132344"/>
          </a:xfrm>
          <a:prstGeom prst="rect">
            <a:avLst/>
          </a:prstGeom>
          <a:noFill/>
        </p:spPr>
        <p:txBody>
          <a:bodyPr wrap="square" lIns="13716" tIns="4572" rIns="13716" bIns="4572" anchor="ctr">
            <a:spAutoFit/>
          </a:bodyPr>
          <a:lstStyle/>
          <a:p>
            <a:pPr algn="ctr"/>
            <a:r>
              <a:rPr sz="800" b="1" dirty="0">
                <a:solidFill>
                  <a:srgbClr val="232328"/>
                </a:solidFill>
                <a:latin typeface="Aptos"/>
              </a:rPr>
              <a:t>ChaCha20-Poly1305 AEAD Encryption</a:t>
            </a:r>
          </a:p>
        </p:txBody>
      </p:sp>
      <p:sp>
        <p:nvSpPr>
          <p:cNvPr id="17425" name="Rounded Rectangle 41">
            <a:extLst>
              <a:ext uri="{FF2B5EF4-FFF2-40B4-BE49-F238E27FC236}">
                <a16:creationId xmlns:a16="http://schemas.microsoft.com/office/drawing/2014/main" id="{BE0D9377-E9D2-526B-FE72-68A0843D1EA2}"/>
              </a:ext>
            </a:extLst>
          </p:cNvPr>
          <p:cNvSpPr/>
          <p:nvPr/>
        </p:nvSpPr>
        <p:spPr>
          <a:xfrm>
            <a:off x="4370832" y="6132552"/>
            <a:ext cx="3438144" cy="274320"/>
          </a:xfrm>
          <a:prstGeom prst="roundRect">
            <a:avLst/>
          </a:prstGeom>
          <a:solidFill>
            <a:srgbClr val="F1EBFA"/>
          </a:solidFill>
          <a:ln w="8255">
            <a:solidFill>
              <a:srgbClr val="6F4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TextBox 17426">
            <a:extLst>
              <a:ext uri="{FF2B5EF4-FFF2-40B4-BE49-F238E27FC236}">
                <a16:creationId xmlns:a16="http://schemas.microsoft.com/office/drawing/2014/main" id="{86D67E7E-2BEC-DC00-2909-36A8F75068A4}"/>
              </a:ext>
            </a:extLst>
          </p:cNvPr>
          <p:cNvSpPr txBox="1"/>
          <p:nvPr/>
        </p:nvSpPr>
        <p:spPr>
          <a:xfrm>
            <a:off x="4449756" y="6216488"/>
            <a:ext cx="3273552" cy="147733"/>
          </a:xfrm>
          <a:prstGeom prst="rect">
            <a:avLst/>
          </a:prstGeom>
          <a:noFill/>
        </p:spPr>
        <p:txBody>
          <a:bodyPr wrap="square" lIns="13716" tIns="4572" rIns="13716" bIns="4572" anchor="ctr">
            <a:spAutoFit/>
          </a:bodyPr>
          <a:lstStyle/>
          <a:p>
            <a:pPr algn="ctr"/>
            <a:r>
              <a:rPr sz="900" b="1" dirty="0">
                <a:solidFill>
                  <a:srgbClr val="232328"/>
                </a:solidFill>
                <a:latin typeface="Aptos"/>
              </a:rPr>
              <a:t>Wi-Fi Direct P2P Protocol</a:t>
            </a:r>
          </a:p>
        </p:txBody>
      </p:sp>
      <p:sp>
        <p:nvSpPr>
          <p:cNvPr id="17429" name="Rounded Rectangle 43">
            <a:extLst>
              <a:ext uri="{FF2B5EF4-FFF2-40B4-BE49-F238E27FC236}">
                <a16:creationId xmlns:a16="http://schemas.microsoft.com/office/drawing/2014/main" id="{EC74ECA1-0C41-6F3C-00A4-C859F15014D5}"/>
              </a:ext>
            </a:extLst>
          </p:cNvPr>
          <p:cNvSpPr/>
          <p:nvPr/>
        </p:nvSpPr>
        <p:spPr>
          <a:xfrm>
            <a:off x="8296009" y="3678588"/>
            <a:ext cx="3619451" cy="2944715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1" name="TextBox 17430">
            <a:extLst>
              <a:ext uri="{FF2B5EF4-FFF2-40B4-BE49-F238E27FC236}">
                <a16:creationId xmlns:a16="http://schemas.microsoft.com/office/drawing/2014/main" id="{8E2DE2C5-6252-3E37-FE27-DCCC00C510DC}"/>
              </a:ext>
            </a:extLst>
          </p:cNvPr>
          <p:cNvSpPr txBox="1"/>
          <p:nvPr/>
        </p:nvSpPr>
        <p:spPr>
          <a:xfrm>
            <a:off x="8357024" y="3854333"/>
            <a:ext cx="3383280" cy="193899"/>
          </a:xfrm>
          <a:prstGeom prst="rect">
            <a:avLst/>
          </a:prstGeom>
          <a:noFill/>
        </p:spPr>
        <p:txBody>
          <a:bodyPr wrap="square" lIns="13716" tIns="4572" rIns="13716" bIns="4572" anchor="t">
            <a:spAutoFit/>
          </a:bodyPr>
          <a:lstStyle/>
          <a:p>
            <a:pPr algn="ctr"/>
            <a:r>
              <a:rPr sz="1200" b="1" dirty="0">
                <a:solidFill>
                  <a:srgbClr val="6F48A8"/>
                </a:solidFill>
                <a:latin typeface="Aptos"/>
              </a:rPr>
              <a:t>ECONOMIC APPROACH &amp; VIABILITY</a:t>
            </a:r>
          </a:p>
        </p:txBody>
      </p:sp>
      <p:sp>
        <p:nvSpPr>
          <p:cNvPr id="17435" name="TextBox 17434">
            <a:extLst>
              <a:ext uri="{FF2B5EF4-FFF2-40B4-BE49-F238E27FC236}">
                <a16:creationId xmlns:a16="http://schemas.microsoft.com/office/drawing/2014/main" id="{8E9AD357-DE3D-1CDC-C3D6-BD3B1D0D9D39}"/>
              </a:ext>
            </a:extLst>
          </p:cNvPr>
          <p:cNvSpPr txBox="1"/>
          <p:nvPr/>
        </p:nvSpPr>
        <p:spPr>
          <a:xfrm>
            <a:off x="8321040" y="5962936"/>
            <a:ext cx="3255264" cy="98489"/>
          </a:xfrm>
          <a:prstGeom prst="rect">
            <a:avLst/>
          </a:prstGeom>
          <a:noFill/>
        </p:spPr>
        <p:txBody>
          <a:bodyPr wrap="square" lIns="13716" tIns="4572" rIns="13716" bIns="4572" anchor="ctr">
            <a:spAutoFit/>
          </a:bodyPr>
          <a:lstStyle/>
          <a:p>
            <a:pPr algn="ctr"/>
            <a:endParaRPr sz="580" b="1" dirty="0">
              <a:solidFill>
                <a:srgbClr val="69696E"/>
              </a:solidFill>
              <a:latin typeface="Aptos"/>
            </a:endParaRPr>
          </a:p>
        </p:txBody>
      </p:sp>
      <p:pic>
        <p:nvPicPr>
          <p:cNvPr id="17444" name="Picture 17443">
            <a:extLst>
              <a:ext uri="{FF2B5EF4-FFF2-40B4-BE49-F238E27FC236}">
                <a16:creationId xmlns:a16="http://schemas.microsoft.com/office/drawing/2014/main" id="{30C7D49A-7BA9-6E89-A52A-B0529DF1DF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227" y="4118820"/>
            <a:ext cx="3299663" cy="2327486"/>
          </a:xfrm>
          <a:prstGeom prst="rect">
            <a:avLst/>
          </a:prstGeom>
        </p:spPr>
      </p:pic>
      <p:pic>
        <p:nvPicPr>
          <p:cNvPr id="17446" name="Picture 17445">
            <a:extLst>
              <a:ext uri="{FF2B5EF4-FFF2-40B4-BE49-F238E27FC236}">
                <a16:creationId xmlns:a16="http://schemas.microsoft.com/office/drawing/2014/main" id="{B2F4507C-5B5E-49D4-C410-EA38005493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7600" y="4150054"/>
            <a:ext cx="2598994" cy="2447165"/>
          </a:xfrm>
          <a:prstGeom prst="rect">
            <a:avLst/>
          </a:prstGeom>
        </p:spPr>
      </p:pic>
      <p:pic>
        <p:nvPicPr>
          <p:cNvPr id="17448" name="Picture 17447">
            <a:extLst>
              <a:ext uri="{FF2B5EF4-FFF2-40B4-BE49-F238E27FC236}">
                <a16:creationId xmlns:a16="http://schemas.microsoft.com/office/drawing/2014/main" id="{BA68668A-F0B6-A172-446C-876C6EFD22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3540" y="1413681"/>
            <a:ext cx="6247840" cy="211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ECC188C0-35A4-E4DD-CC14-5959A48E605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Algo Avengers</a:t>
            </a:r>
            <a:endParaRPr lang="en-IN" sz="1400" dirty="0"/>
          </a:p>
        </p:txBody>
      </p:sp>
      <p:sp>
        <p:nvSpPr>
          <p:cNvPr id="4" name="Rounded Rectangle 9">
            <a:extLst>
              <a:ext uri="{FF2B5EF4-FFF2-40B4-BE49-F238E27FC236}">
                <a16:creationId xmlns:a16="http://schemas.microsoft.com/office/drawing/2014/main" id="{ACB45AC7-6D9F-3A80-28C0-F8B62415A17D}"/>
              </a:ext>
            </a:extLst>
          </p:cNvPr>
          <p:cNvSpPr/>
          <p:nvPr/>
        </p:nvSpPr>
        <p:spPr>
          <a:xfrm>
            <a:off x="329772" y="1197286"/>
            <a:ext cx="5723555" cy="5057209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794B4C16-B10B-C107-28C5-2233472C69F6}"/>
              </a:ext>
            </a:extLst>
          </p:cNvPr>
          <p:cNvSpPr/>
          <p:nvPr/>
        </p:nvSpPr>
        <p:spPr>
          <a:xfrm>
            <a:off x="6181874" y="1197286"/>
            <a:ext cx="5714470" cy="5057209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8B81E4-BEFA-1598-81B4-CFC121496CEF}"/>
              </a:ext>
            </a:extLst>
          </p:cNvPr>
          <p:cNvSpPr txBox="1"/>
          <p:nvPr/>
        </p:nvSpPr>
        <p:spPr>
          <a:xfrm>
            <a:off x="2540654" y="1453005"/>
            <a:ext cx="5223880" cy="378565"/>
          </a:xfrm>
          <a:prstGeom prst="rect">
            <a:avLst/>
          </a:prstGeom>
          <a:noFill/>
        </p:spPr>
        <p:txBody>
          <a:bodyPr wrap="square" lIns="13716" tIns="4572" rIns="13716" bIns="4572" anchor="t">
            <a:spAutoFit/>
          </a:bodyPr>
          <a:lstStyle/>
          <a:p>
            <a:pPr algn="l"/>
            <a:r>
              <a:rPr sz="2400" b="1" dirty="0">
                <a:solidFill>
                  <a:srgbClr val="6F48A8"/>
                </a:solidFill>
                <a:latin typeface="Aptos"/>
              </a:rPr>
              <a:t>IMPACTS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A83E52-BC70-752E-B55D-9E2C3B6E0261}"/>
              </a:ext>
            </a:extLst>
          </p:cNvPr>
          <p:cNvSpPr txBox="1"/>
          <p:nvPr/>
        </p:nvSpPr>
        <p:spPr>
          <a:xfrm>
            <a:off x="7561687" y="1462044"/>
            <a:ext cx="5196625" cy="378565"/>
          </a:xfrm>
          <a:prstGeom prst="rect">
            <a:avLst/>
          </a:prstGeom>
          <a:noFill/>
        </p:spPr>
        <p:txBody>
          <a:bodyPr wrap="square" lIns="13716" tIns="4572" rIns="13716" bIns="4572" anchor="t">
            <a:spAutoFit/>
          </a:bodyPr>
          <a:lstStyle/>
          <a:p>
            <a:pPr algn="l"/>
            <a:r>
              <a:rPr sz="2400" b="1" dirty="0">
                <a:solidFill>
                  <a:srgbClr val="6F48A8"/>
                </a:solidFill>
                <a:latin typeface="Aptos"/>
              </a:rPr>
              <a:t>FUTURE PROSPECTS</a:t>
            </a:r>
          </a:p>
        </p:txBody>
      </p:sp>
      <p:sp>
        <p:nvSpPr>
          <p:cNvPr id="15" name="Rounded Rectangle 13">
            <a:extLst>
              <a:ext uri="{FF2B5EF4-FFF2-40B4-BE49-F238E27FC236}">
                <a16:creationId xmlns:a16="http://schemas.microsoft.com/office/drawing/2014/main" id="{7D374DBA-B3D4-575B-75C2-696ED365FA7A}"/>
              </a:ext>
            </a:extLst>
          </p:cNvPr>
          <p:cNvSpPr/>
          <p:nvPr/>
        </p:nvSpPr>
        <p:spPr>
          <a:xfrm>
            <a:off x="528755" y="2071090"/>
            <a:ext cx="5305645" cy="837173"/>
          </a:xfrm>
          <a:prstGeom prst="roundRect">
            <a:avLst/>
          </a:prstGeom>
          <a:solidFill>
            <a:srgbClr val="E0F0FA"/>
          </a:solidFill>
          <a:ln w="9525">
            <a:solidFill>
              <a:srgbClr val="408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1AC702-616B-FBCC-D0F9-985CB5E0C5D0}"/>
              </a:ext>
            </a:extLst>
          </p:cNvPr>
          <p:cNvSpPr txBox="1"/>
          <p:nvPr/>
        </p:nvSpPr>
        <p:spPr>
          <a:xfrm>
            <a:off x="683200" y="2140205"/>
            <a:ext cx="4996754" cy="193899"/>
          </a:xfrm>
          <a:prstGeom prst="rect">
            <a:avLst/>
          </a:prstGeom>
          <a:noFill/>
        </p:spPr>
        <p:txBody>
          <a:bodyPr wrap="square" lIns="13716" tIns="4572" rIns="13716" bIns="4572" anchor="t">
            <a:spAutoFit/>
          </a:bodyPr>
          <a:lstStyle/>
          <a:p>
            <a:pPr algn="l"/>
            <a:r>
              <a:rPr sz="1200" b="1" dirty="0">
                <a:solidFill>
                  <a:srgbClr val="232328"/>
                </a:solidFill>
                <a:latin typeface="Aptos"/>
              </a:rPr>
              <a:t>🌐  Social &amp; Accessibility Impact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4EDEA6-1809-CE33-11D7-7D1BD51225AB}"/>
              </a:ext>
            </a:extLst>
          </p:cNvPr>
          <p:cNvSpPr txBox="1"/>
          <p:nvPr/>
        </p:nvSpPr>
        <p:spPr>
          <a:xfrm>
            <a:off x="692977" y="2338335"/>
            <a:ext cx="4996754" cy="493981"/>
          </a:xfrm>
          <a:prstGeom prst="rect">
            <a:avLst/>
          </a:prstGeom>
          <a:noFill/>
        </p:spPr>
        <p:txBody>
          <a:bodyPr wrap="square" lIns="13716" tIns="4572" rIns="13716" bIns="4572" anchor="t">
            <a:spAutoFit/>
          </a:bodyPr>
          <a:lstStyle/>
          <a:p>
            <a:r>
              <a:rPr sz="1050" b="0" dirty="0">
                <a:solidFill>
                  <a:srgbClr val="232328"/>
                </a:solidFill>
                <a:latin typeface="Aptos"/>
              </a:rPr>
              <a:t>Voice-first, hands-free interface empowering non-literate citizens, elderly individuals, and rescue workers.</a:t>
            </a:r>
            <a:r>
              <a:rPr lang="en-US" sz="1050" b="0" dirty="0">
                <a:solidFill>
                  <a:srgbClr val="232328"/>
                </a:solidFill>
                <a:latin typeface="Aptos"/>
              </a:rPr>
              <a:t> </a:t>
            </a:r>
            <a:r>
              <a:rPr sz="1050" b="0" dirty="0">
                <a:solidFill>
                  <a:srgbClr val="232328"/>
                </a:solidFill>
                <a:latin typeface="Aptos"/>
              </a:rPr>
              <a:t>Native support for 10 Indian languages eliminates regional communication barriers during national disasters.</a:t>
            </a:r>
          </a:p>
        </p:txBody>
      </p:sp>
      <p:sp>
        <p:nvSpPr>
          <p:cNvPr id="21" name="Rounded Rectangle 16">
            <a:extLst>
              <a:ext uri="{FF2B5EF4-FFF2-40B4-BE49-F238E27FC236}">
                <a16:creationId xmlns:a16="http://schemas.microsoft.com/office/drawing/2014/main" id="{DE163E8D-19F5-58BA-16E7-3DCB545AFD71}"/>
              </a:ext>
            </a:extLst>
          </p:cNvPr>
          <p:cNvSpPr/>
          <p:nvPr/>
        </p:nvSpPr>
        <p:spPr>
          <a:xfrm>
            <a:off x="518079" y="2995848"/>
            <a:ext cx="5305645" cy="837173"/>
          </a:xfrm>
          <a:prstGeom prst="roundRect">
            <a:avLst/>
          </a:prstGeom>
          <a:solidFill>
            <a:srgbClr val="F1EBFA"/>
          </a:solidFill>
          <a:ln w="9525">
            <a:solidFill>
              <a:srgbClr val="6F4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86C3CC-0028-6D93-E190-4AFC0145E453}"/>
              </a:ext>
            </a:extLst>
          </p:cNvPr>
          <p:cNvSpPr txBox="1"/>
          <p:nvPr/>
        </p:nvSpPr>
        <p:spPr>
          <a:xfrm>
            <a:off x="691815" y="3059796"/>
            <a:ext cx="4996754" cy="193899"/>
          </a:xfrm>
          <a:prstGeom prst="rect">
            <a:avLst/>
          </a:prstGeom>
          <a:noFill/>
        </p:spPr>
        <p:txBody>
          <a:bodyPr wrap="square" lIns="13716" tIns="4572" rIns="13716" bIns="4572" anchor="t">
            <a:spAutoFit/>
          </a:bodyPr>
          <a:lstStyle/>
          <a:p>
            <a:pPr algn="l"/>
            <a:r>
              <a:rPr sz="1200" b="1" dirty="0">
                <a:solidFill>
                  <a:srgbClr val="232328"/>
                </a:solidFill>
                <a:latin typeface="Aptos"/>
              </a:rPr>
              <a:t>🛡  Tactical &amp; National Security Impact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B6CED7-41F7-65B5-E712-2E0A3DB62AA5}"/>
              </a:ext>
            </a:extLst>
          </p:cNvPr>
          <p:cNvSpPr txBox="1"/>
          <p:nvPr/>
        </p:nvSpPr>
        <p:spPr>
          <a:xfrm>
            <a:off x="691815" y="3257926"/>
            <a:ext cx="4996754" cy="493981"/>
          </a:xfrm>
          <a:prstGeom prst="rect">
            <a:avLst/>
          </a:prstGeom>
          <a:noFill/>
        </p:spPr>
        <p:txBody>
          <a:bodyPr wrap="square" lIns="13716" tIns="4572" rIns="13716" bIns="4572" anchor="t">
            <a:spAutoFit/>
          </a:bodyPr>
          <a:lstStyle/>
          <a:p>
            <a:pPr algn="l"/>
            <a:r>
              <a:rPr sz="1050" b="0" dirty="0">
                <a:solidFill>
                  <a:srgbClr val="232328"/>
                </a:solidFill>
                <a:latin typeface="Aptos"/>
              </a:rPr>
              <a:t>100% sovereign Atmanirbhar Indian technology reducing dependence on foreign communication </a:t>
            </a:r>
            <a:r>
              <a:rPr sz="1050" b="0" dirty="0" err="1">
                <a:solidFill>
                  <a:srgbClr val="232328"/>
                </a:solidFill>
                <a:latin typeface="Aptos"/>
              </a:rPr>
              <a:t>hardware.Encrypted</a:t>
            </a:r>
            <a:r>
              <a:rPr sz="1050" b="0" dirty="0">
                <a:solidFill>
                  <a:srgbClr val="232328"/>
                </a:solidFill>
                <a:latin typeface="Aptos"/>
              </a:rPr>
              <a:t> peer-to-peer mesh links operate completely isolated from commercial networks, preventing interception.</a:t>
            </a:r>
          </a:p>
        </p:txBody>
      </p:sp>
      <p:sp>
        <p:nvSpPr>
          <p:cNvPr id="27" name="Rounded Rectangle 19">
            <a:extLst>
              <a:ext uri="{FF2B5EF4-FFF2-40B4-BE49-F238E27FC236}">
                <a16:creationId xmlns:a16="http://schemas.microsoft.com/office/drawing/2014/main" id="{4678232F-1204-47AA-22B4-AE5311FA5A4F}"/>
              </a:ext>
            </a:extLst>
          </p:cNvPr>
          <p:cNvSpPr/>
          <p:nvPr/>
        </p:nvSpPr>
        <p:spPr>
          <a:xfrm>
            <a:off x="528756" y="3980530"/>
            <a:ext cx="5305645" cy="837173"/>
          </a:xfrm>
          <a:prstGeom prst="roundRect">
            <a:avLst/>
          </a:prstGeom>
          <a:solidFill>
            <a:srgbClr val="FFEEDD"/>
          </a:solidFill>
          <a:ln w="9525">
            <a:solidFill>
              <a:srgbClr val="E27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52F96CE-AFB2-61D4-0BBE-4B11E6DD720E}"/>
              </a:ext>
            </a:extLst>
          </p:cNvPr>
          <p:cNvSpPr txBox="1"/>
          <p:nvPr/>
        </p:nvSpPr>
        <p:spPr>
          <a:xfrm>
            <a:off x="683201" y="4044244"/>
            <a:ext cx="4996754" cy="193899"/>
          </a:xfrm>
          <a:prstGeom prst="rect">
            <a:avLst/>
          </a:prstGeom>
          <a:noFill/>
        </p:spPr>
        <p:txBody>
          <a:bodyPr wrap="square" lIns="13716" tIns="4572" rIns="13716" bIns="4572" anchor="t">
            <a:spAutoFit/>
          </a:bodyPr>
          <a:lstStyle/>
          <a:p>
            <a:pPr algn="l"/>
            <a:r>
              <a:rPr sz="1200" b="1" dirty="0">
                <a:solidFill>
                  <a:srgbClr val="232328"/>
                </a:solidFill>
                <a:latin typeface="Aptos"/>
              </a:rPr>
              <a:t>💰  Economic &amp; Administrative Impact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AC910F-6586-2DD4-EB7E-5872AF408D23}"/>
              </a:ext>
            </a:extLst>
          </p:cNvPr>
          <p:cNvSpPr txBox="1"/>
          <p:nvPr/>
        </p:nvSpPr>
        <p:spPr>
          <a:xfrm>
            <a:off x="691815" y="4250730"/>
            <a:ext cx="4996754" cy="493981"/>
          </a:xfrm>
          <a:prstGeom prst="rect">
            <a:avLst/>
          </a:prstGeom>
          <a:noFill/>
        </p:spPr>
        <p:txBody>
          <a:bodyPr wrap="square" lIns="13716" tIns="4572" rIns="13716" bIns="4572" anchor="t">
            <a:spAutoFit/>
          </a:bodyPr>
          <a:lstStyle/>
          <a:p>
            <a:pPr algn="l"/>
            <a:r>
              <a:rPr sz="1050" b="0" dirty="0">
                <a:solidFill>
                  <a:srgbClr val="232328"/>
                </a:solidFill>
                <a:latin typeface="Aptos"/>
              </a:rPr>
              <a:t>Replaces expensive $1,500 proprietary satellite/VHF radios with existing $80 Android smartphones.100x payload bandwidth compression (32 kB/s raw audio → 0.32 kB/s text payload) enables low-bitrate channel transmission.</a:t>
            </a:r>
          </a:p>
        </p:txBody>
      </p:sp>
      <p:sp>
        <p:nvSpPr>
          <p:cNvPr id="33" name="Rounded Rectangle 22">
            <a:extLst>
              <a:ext uri="{FF2B5EF4-FFF2-40B4-BE49-F238E27FC236}">
                <a16:creationId xmlns:a16="http://schemas.microsoft.com/office/drawing/2014/main" id="{2FA11822-4806-6A4E-0ACF-68FFC3ED3687}"/>
              </a:ext>
            </a:extLst>
          </p:cNvPr>
          <p:cNvSpPr/>
          <p:nvPr/>
        </p:nvSpPr>
        <p:spPr>
          <a:xfrm>
            <a:off x="518080" y="4965212"/>
            <a:ext cx="5305645" cy="837173"/>
          </a:xfrm>
          <a:prstGeom prst="roundRect">
            <a:avLst/>
          </a:prstGeom>
          <a:solidFill>
            <a:srgbClr val="E5F4E9"/>
          </a:solidFill>
          <a:ln w="9525">
            <a:solidFill>
              <a:srgbClr val="4C97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4450333-D6C2-75CC-9A5E-C0E7B0BEEC0D}"/>
              </a:ext>
            </a:extLst>
          </p:cNvPr>
          <p:cNvSpPr txBox="1"/>
          <p:nvPr/>
        </p:nvSpPr>
        <p:spPr>
          <a:xfrm>
            <a:off x="688848" y="5057780"/>
            <a:ext cx="4996754" cy="193899"/>
          </a:xfrm>
          <a:prstGeom prst="rect">
            <a:avLst/>
          </a:prstGeom>
          <a:noFill/>
        </p:spPr>
        <p:txBody>
          <a:bodyPr wrap="square" lIns="13716" tIns="4572" rIns="13716" bIns="4572" anchor="t">
            <a:spAutoFit/>
          </a:bodyPr>
          <a:lstStyle/>
          <a:p>
            <a:pPr algn="l"/>
            <a:r>
              <a:rPr sz="1200" b="1" dirty="0">
                <a:solidFill>
                  <a:srgbClr val="232328"/>
                </a:solidFill>
                <a:latin typeface="Aptos"/>
              </a:rPr>
              <a:t>🔒  Ethical &amp; Data Privacy Impact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63EF7F-9BDB-282A-CF9F-653CFB90DF79}"/>
              </a:ext>
            </a:extLst>
          </p:cNvPr>
          <p:cNvSpPr txBox="1"/>
          <p:nvPr/>
        </p:nvSpPr>
        <p:spPr>
          <a:xfrm>
            <a:off x="688848" y="5287245"/>
            <a:ext cx="4996754" cy="347788"/>
          </a:xfrm>
          <a:prstGeom prst="rect">
            <a:avLst/>
          </a:prstGeom>
          <a:noFill/>
        </p:spPr>
        <p:txBody>
          <a:bodyPr wrap="square" lIns="13716" tIns="4572" rIns="13716" bIns="4572" anchor="t">
            <a:spAutoFit/>
          </a:bodyPr>
          <a:lstStyle/>
          <a:p>
            <a:pPr algn="l"/>
            <a:r>
              <a:rPr sz="1100" b="0" dirty="0">
                <a:solidFill>
                  <a:srgbClr val="232328"/>
                </a:solidFill>
                <a:latin typeface="Aptos"/>
              </a:rPr>
              <a:t>100% on-device edge AI execution ensures raw audio never leaves the user's handset or streams to cloud servers.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9E0978F-1348-0F2D-7F2C-29E025E37542}"/>
              </a:ext>
            </a:extLst>
          </p:cNvPr>
          <p:cNvSpPr/>
          <p:nvPr/>
        </p:nvSpPr>
        <p:spPr>
          <a:xfrm>
            <a:off x="6343133" y="1989512"/>
            <a:ext cx="72680" cy="170852"/>
          </a:xfrm>
          <a:prstGeom prst="rect">
            <a:avLst/>
          </a:prstGeom>
          <a:solidFill>
            <a:srgbClr val="E27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35E963-EAAC-4054-EE7B-EFCBADBC6283}"/>
              </a:ext>
            </a:extLst>
          </p:cNvPr>
          <p:cNvSpPr txBox="1"/>
          <p:nvPr/>
        </p:nvSpPr>
        <p:spPr>
          <a:xfrm>
            <a:off x="6576111" y="1878303"/>
            <a:ext cx="4969499" cy="193899"/>
          </a:xfrm>
          <a:prstGeom prst="rect">
            <a:avLst/>
          </a:prstGeom>
          <a:noFill/>
        </p:spPr>
        <p:txBody>
          <a:bodyPr wrap="square" lIns="13716" tIns="4572" rIns="13716" bIns="4572" anchor="t">
            <a:spAutoFit/>
          </a:bodyPr>
          <a:lstStyle/>
          <a:p>
            <a:pPr algn="l"/>
            <a:r>
              <a:rPr sz="1200" b="1" dirty="0">
                <a:solidFill>
                  <a:srgbClr val="232328"/>
                </a:solidFill>
                <a:latin typeface="Aptos"/>
              </a:rPr>
              <a:t>Multi-Hop Mesh Extension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61B154-6203-7770-A319-67BD7F9C3BCD}"/>
              </a:ext>
            </a:extLst>
          </p:cNvPr>
          <p:cNvSpPr txBox="1"/>
          <p:nvPr/>
        </p:nvSpPr>
        <p:spPr>
          <a:xfrm>
            <a:off x="6579078" y="2160364"/>
            <a:ext cx="4924074" cy="347788"/>
          </a:xfrm>
          <a:prstGeom prst="rect">
            <a:avLst/>
          </a:prstGeom>
          <a:noFill/>
        </p:spPr>
        <p:txBody>
          <a:bodyPr wrap="square" lIns="13716" tIns="4572" rIns="13716" bIns="4572" anchor="t">
            <a:spAutoFit/>
          </a:bodyPr>
          <a:lstStyle/>
          <a:p>
            <a:pPr algn="l"/>
            <a:r>
              <a:rPr sz="1100" b="0" dirty="0">
                <a:solidFill>
                  <a:srgbClr val="232328"/>
                </a:solidFill>
                <a:latin typeface="Aptos"/>
              </a:rPr>
              <a:t>Extend peer-to-peer transmission range across multi-hop relay nodes to cover 10+ kilometers in mountainous and valley terrains.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55B806E-6D21-7481-39C0-7AE58341292C}"/>
              </a:ext>
            </a:extLst>
          </p:cNvPr>
          <p:cNvSpPr/>
          <p:nvPr/>
        </p:nvSpPr>
        <p:spPr>
          <a:xfrm>
            <a:off x="6338481" y="2820624"/>
            <a:ext cx="72680" cy="170852"/>
          </a:xfrm>
          <a:prstGeom prst="rect">
            <a:avLst/>
          </a:prstGeom>
          <a:solidFill>
            <a:srgbClr val="E27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3BD1DE9-F674-00FA-554D-5E39892FD35F}"/>
              </a:ext>
            </a:extLst>
          </p:cNvPr>
          <p:cNvSpPr txBox="1"/>
          <p:nvPr/>
        </p:nvSpPr>
        <p:spPr>
          <a:xfrm>
            <a:off x="6579372" y="2731715"/>
            <a:ext cx="4969499" cy="193899"/>
          </a:xfrm>
          <a:prstGeom prst="rect">
            <a:avLst/>
          </a:prstGeom>
          <a:noFill/>
        </p:spPr>
        <p:txBody>
          <a:bodyPr wrap="square" lIns="13716" tIns="4572" rIns="13716" bIns="4572" anchor="t">
            <a:spAutoFit/>
          </a:bodyPr>
          <a:lstStyle/>
          <a:p>
            <a:pPr algn="l"/>
            <a:r>
              <a:rPr sz="1200" b="1" dirty="0">
                <a:solidFill>
                  <a:srgbClr val="232328"/>
                </a:solidFill>
                <a:latin typeface="Aptos"/>
              </a:rPr>
              <a:t>Drone &amp; Airborne Gateway Relay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7893D46-CE0F-A6F9-9165-11383965DDA6}"/>
              </a:ext>
            </a:extLst>
          </p:cNvPr>
          <p:cNvSpPr txBox="1"/>
          <p:nvPr/>
        </p:nvSpPr>
        <p:spPr>
          <a:xfrm>
            <a:off x="6576111" y="3023701"/>
            <a:ext cx="4924074" cy="347788"/>
          </a:xfrm>
          <a:prstGeom prst="rect">
            <a:avLst/>
          </a:prstGeom>
          <a:noFill/>
        </p:spPr>
        <p:txBody>
          <a:bodyPr wrap="square" lIns="13716" tIns="4572" rIns="13716" bIns="4572" anchor="t">
            <a:spAutoFit/>
          </a:bodyPr>
          <a:lstStyle/>
          <a:p>
            <a:pPr algn="l"/>
            <a:r>
              <a:rPr sz="1100" b="0" dirty="0">
                <a:solidFill>
                  <a:srgbClr val="232328"/>
                </a:solidFill>
                <a:latin typeface="Aptos"/>
              </a:rPr>
              <a:t>Deploy relay payloads on rescue drones to bridge isolated disaster zones directly to state command centers.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B0289C9-8E5A-A70E-EAEC-3E00EAD96A34}"/>
              </a:ext>
            </a:extLst>
          </p:cNvPr>
          <p:cNvSpPr/>
          <p:nvPr/>
        </p:nvSpPr>
        <p:spPr>
          <a:xfrm>
            <a:off x="6343133" y="3647135"/>
            <a:ext cx="72680" cy="170852"/>
          </a:xfrm>
          <a:prstGeom prst="rect">
            <a:avLst/>
          </a:prstGeom>
          <a:solidFill>
            <a:srgbClr val="E27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A0772C0-F657-0580-9948-371F0BB9EA6D}"/>
              </a:ext>
            </a:extLst>
          </p:cNvPr>
          <p:cNvSpPr txBox="1"/>
          <p:nvPr/>
        </p:nvSpPr>
        <p:spPr>
          <a:xfrm>
            <a:off x="6579372" y="3590544"/>
            <a:ext cx="4969499" cy="193899"/>
          </a:xfrm>
          <a:prstGeom prst="rect">
            <a:avLst/>
          </a:prstGeom>
          <a:noFill/>
        </p:spPr>
        <p:txBody>
          <a:bodyPr wrap="square" lIns="13716" tIns="4572" rIns="13716" bIns="4572" anchor="t">
            <a:spAutoFit/>
          </a:bodyPr>
          <a:lstStyle/>
          <a:p>
            <a:pPr algn="l"/>
            <a:r>
              <a:rPr sz="1200" b="1" dirty="0">
                <a:solidFill>
                  <a:srgbClr val="232328"/>
                </a:solidFill>
                <a:latin typeface="Aptos"/>
              </a:rPr>
              <a:t>Wearable &amp; Tactical Hardware SDK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2022DCB-5815-DFF7-E7A4-9D9D542515FA}"/>
              </a:ext>
            </a:extLst>
          </p:cNvPr>
          <p:cNvSpPr txBox="1"/>
          <p:nvPr/>
        </p:nvSpPr>
        <p:spPr>
          <a:xfrm>
            <a:off x="6576111" y="3865854"/>
            <a:ext cx="4924074" cy="347788"/>
          </a:xfrm>
          <a:prstGeom prst="rect">
            <a:avLst/>
          </a:prstGeom>
          <a:noFill/>
        </p:spPr>
        <p:txBody>
          <a:bodyPr wrap="square" lIns="13716" tIns="4572" rIns="13716" bIns="4572" anchor="t">
            <a:spAutoFit/>
          </a:bodyPr>
          <a:lstStyle/>
          <a:p>
            <a:pPr algn="l"/>
            <a:r>
              <a:rPr sz="1100" b="0" dirty="0">
                <a:solidFill>
                  <a:srgbClr val="232328"/>
                </a:solidFill>
                <a:latin typeface="Aptos"/>
              </a:rPr>
              <a:t>Port native C++ NDK engine to rugged military smartwatches, helmet communicators, and IoT emergency beacons.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2FF6528-5B1D-6A11-FF5C-411A1B51E9F9}"/>
              </a:ext>
            </a:extLst>
          </p:cNvPr>
          <p:cNvSpPr/>
          <p:nvPr/>
        </p:nvSpPr>
        <p:spPr>
          <a:xfrm>
            <a:off x="6343133" y="4543247"/>
            <a:ext cx="72680" cy="170852"/>
          </a:xfrm>
          <a:prstGeom prst="rect">
            <a:avLst/>
          </a:prstGeom>
          <a:solidFill>
            <a:srgbClr val="E27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1E7A64F-1221-7596-067D-BC378E4345C7}"/>
              </a:ext>
            </a:extLst>
          </p:cNvPr>
          <p:cNvSpPr txBox="1"/>
          <p:nvPr/>
        </p:nvSpPr>
        <p:spPr>
          <a:xfrm>
            <a:off x="6579372" y="4399116"/>
            <a:ext cx="4969499" cy="193899"/>
          </a:xfrm>
          <a:prstGeom prst="rect">
            <a:avLst/>
          </a:prstGeom>
          <a:noFill/>
        </p:spPr>
        <p:txBody>
          <a:bodyPr wrap="square" lIns="13716" tIns="4572" rIns="13716" bIns="4572" anchor="t">
            <a:spAutoFit/>
          </a:bodyPr>
          <a:lstStyle/>
          <a:p>
            <a:pPr algn="l"/>
            <a:r>
              <a:rPr sz="1200" b="1" dirty="0">
                <a:solidFill>
                  <a:srgbClr val="232328"/>
                </a:solidFill>
                <a:latin typeface="Aptos"/>
              </a:rPr>
              <a:t>Defense-Grade Cryptographic Upgrade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2D4243C-40EE-5654-59F4-754E7E7C6891}"/>
              </a:ext>
            </a:extLst>
          </p:cNvPr>
          <p:cNvSpPr txBox="1"/>
          <p:nvPr/>
        </p:nvSpPr>
        <p:spPr>
          <a:xfrm>
            <a:off x="6576111" y="4679823"/>
            <a:ext cx="4924074" cy="347788"/>
          </a:xfrm>
          <a:prstGeom prst="rect">
            <a:avLst/>
          </a:prstGeom>
          <a:noFill/>
        </p:spPr>
        <p:txBody>
          <a:bodyPr wrap="square" lIns="13716" tIns="4572" rIns="13716" bIns="4572" anchor="t">
            <a:spAutoFit/>
          </a:bodyPr>
          <a:lstStyle/>
          <a:p>
            <a:pPr algn="l"/>
            <a:r>
              <a:rPr sz="1100" b="0" dirty="0">
                <a:solidFill>
                  <a:srgbClr val="232328"/>
                </a:solidFill>
                <a:latin typeface="Aptos"/>
              </a:rPr>
              <a:t>Integrate Hardware Security Module (HSM) key storage and post-quantum encryption for tactical defense forces.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E841863-0FE8-F365-ECE4-0096A81F52EA}"/>
              </a:ext>
            </a:extLst>
          </p:cNvPr>
          <p:cNvSpPr/>
          <p:nvPr/>
        </p:nvSpPr>
        <p:spPr>
          <a:xfrm>
            <a:off x="6343133" y="5489862"/>
            <a:ext cx="72680" cy="170852"/>
          </a:xfrm>
          <a:prstGeom prst="rect">
            <a:avLst/>
          </a:prstGeom>
          <a:solidFill>
            <a:srgbClr val="E27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0" name="TextBox 17409">
            <a:extLst>
              <a:ext uri="{FF2B5EF4-FFF2-40B4-BE49-F238E27FC236}">
                <a16:creationId xmlns:a16="http://schemas.microsoft.com/office/drawing/2014/main" id="{BBCEE45B-A6A4-8B0C-29C8-A4396E6CD8DD}"/>
              </a:ext>
            </a:extLst>
          </p:cNvPr>
          <p:cNvSpPr txBox="1"/>
          <p:nvPr/>
        </p:nvSpPr>
        <p:spPr>
          <a:xfrm>
            <a:off x="6579372" y="5275343"/>
            <a:ext cx="4969499" cy="193899"/>
          </a:xfrm>
          <a:prstGeom prst="rect">
            <a:avLst/>
          </a:prstGeom>
          <a:noFill/>
        </p:spPr>
        <p:txBody>
          <a:bodyPr wrap="square" lIns="13716" tIns="4572" rIns="13716" bIns="4572" anchor="t">
            <a:spAutoFit/>
          </a:bodyPr>
          <a:lstStyle/>
          <a:p>
            <a:pPr algn="l"/>
            <a:r>
              <a:rPr sz="1200" b="1" dirty="0">
                <a:solidFill>
                  <a:srgbClr val="232328"/>
                </a:solidFill>
                <a:latin typeface="Aptos"/>
              </a:rPr>
              <a:t>National Emergency Response Standard</a:t>
            </a:r>
          </a:p>
        </p:txBody>
      </p:sp>
      <p:sp>
        <p:nvSpPr>
          <p:cNvPr id="17412" name="TextBox 17411">
            <a:extLst>
              <a:ext uri="{FF2B5EF4-FFF2-40B4-BE49-F238E27FC236}">
                <a16:creationId xmlns:a16="http://schemas.microsoft.com/office/drawing/2014/main" id="{B9582DF7-7408-2B26-3230-DE38B1831229}"/>
              </a:ext>
            </a:extLst>
          </p:cNvPr>
          <p:cNvSpPr txBox="1"/>
          <p:nvPr/>
        </p:nvSpPr>
        <p:spPr>
          <a:xfrm>
            <a:off x="6577072" y="5540796"/>
            <a:ext cx="4924074" cy="347788"/>
          </a:xfrm>
          <a:prstGeom prst="rect">
            <a:avLst/>
          </a:prstGeom>
          <a:noFill/>
        </p:spPr>
        <p:txBody>
          <a:bodyPr wrap="square" lIns="13716" tIns="4572" rIns="13716" bIns="4572" anchor="t">
            <a:spAutoFit/>
          </a:bodyPr>
          <a:lstStyle/>
          <a:p>
            <a:pPr algn="l"/>
            <a:r>
              <a:rPr sz="1100" b="0" dirty="0">
                <a:solidFill>
                  <a:srgbClr val="232328"/>
                </a:solidFill>
                <a:latin typeface="Aptos"/>
              </a:rPr>
              <a:t>Build India's first open offline voice communication standard for NDRF, SDMA, Fire Services, and Border Security Forces.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54DC7D78-94FA-2FD8-D06E-0661C89587A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Algo Avengers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7976</TotalTime>
  <Words>741</Words>
  <Application>Microsoft Office PowerPoint</Application>
  <PresentationFormat>Widescreen</PresentationFormat>
  <Paragraphs>121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Aptos</vt:lpstr>
      <vt:lpstr>Arial</vt:lpstr>
      <vt:lpstr>Calibri</vt:lpstr>
      <vt:lpstr>Garamond</vt:lpstr>
      <vt:lpstr>Montserrat</vt:lpstr>
      <vt:lpstr>Times New Roman</vt:lpstr>
      <vt:lpstr>TradeGothic</vt:lpstr>
      <vt:lpstr>Office Theme</vt:lpstr>
      <vt:lpstr>SMART INDIA HACKATHON 2026</vt:lpstr>
      <vt:lpstr>PowerPoint Presentation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Nupur Bagave</cp:lastModifiedBy>
  <cp:revision>150</cp:revision>
  <dcterms:created xsi:type="dcterms:W3CDTF">2013-12-12T18:46:50Z</dcterms:created>
  <dcterms:modified xsi:type="dcterms:W3CDTF">2026-09-25T19:12:22Z</dcterms:modified>
  <cp:category/>
</cp:coreProperties>
</file>