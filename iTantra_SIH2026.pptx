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0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A"/>
        </a:solidFill>
      </p:bgPr>
    </p:bg>
    <p:spTree>
      <p:nvGrpSpPr>
        <p:cNvPr id="0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  <p:txStyles>
    <p:titleStyle>
      <a:lvl1pPr>
        <a:defRPr sz="4400">
          <a:solidFill>
            <a:srgbClr val="FFFFFF"/>
          </a:solidFill>
          <a:latin typeface="Calibri"/>
        </a:defRPr>
      </a:lvl1pPr>
    </p:titleStyle>
    <p:bodyStyle>
      <a:lvl1pPr>
        <a:defRPr sz="1800">
          <a:solidFill>
            <a:srgbClr val="FFFFFF"/>
          </a:solidFill>
          <a:latin typeface="Calibri"/>
        </a:defRPr>
      </a:lvl1pPr>
    </p:bodyStyle>
    <p:otherStyle>
      <a:lvl1pPr>
        <a:defRPr sz="1800">
          <a:solidFill>
            <a:srgbClr val="FFFFFF"/>
          </a:solidFill>
          <a:latin typeface="Calibr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A"/>
        </a:solidFill>
      </p:bgPr>
    </p:bg>
    <p:spTree>
      <p:nvGrpSpPr>
        <p:cNvPr id="0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1" name="b1"/>
          <p:cNvSpPr/>
          <p:nvPr/>
        </p:nvSpPr>
        <p:spPr>
          <a:xfrm>
            <a:off x="640080" y="1005840"/>
            <a:ext cx="822960" cy="914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2" name="s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SIH 2026  •  PROBLEM STATEMENT ISRO-01  •  TEAM iTANTRA</a:t>
            </a:r>
          </a:p>
        </p:txBody>
      </p:sp>
      <p:sp>
        <p:nvSpPr>
          <p:cNvPr id="3" name="s3"/>
          <p:cNvSpPr/>
          <p:nvPr/>
        </p:nvSpPr>
        <p:spPr>
          <a:xfrm>
            <a:off x="640080" y="178308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/>
              </a:rPr>
              <a:t xml:space="preserve">iTantra</a:t>
            </a:r>
          </a:p>
        </p:txBody>
      </p:sp>
      <p:sp>
        <p:nvSpPr>
          <p:cNvPr id="4" name="s4"/>
          <p:cNvSpPr/>
          <p:nvPr/>
        </p:nvSpPr>
        <p:spPr>
          <a:xfrm>
            <a:off x="640080" y="288036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/>
              </a:rPr>
              <a:t xml:space="preserve">Ultra-Low Bitrate Offline Multilingual Walkie-Talkie &amp; Tactical Emergency Mesh</a:t>
            </a:r>
          </a:p>
        </p:txBody>
      </p:sp>
      <p:sp>
        <p:nvSpPr>
          <p:cNvPr id="5" name="s5"/>
          <p:cNvSpPr/>
          <p:nvPr/>
        </p:nvSpPr>
        <p:spPr>
          <a:xfrm>
            <a:off x="640080" y="3977639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/>
              </a:rPr>
              <a:t xml:space="preserve">Lightweight on-device STT + TTS for 10 Indian languages — no towers, no internet, no cloud.  Speech in, voice out.</a:t>
            </a:r>
          </a:p>
        </p:txBody>
      </p:sp>
      <p:sp>
        <p:nvSpPr>
          <p:cNvPr id="6" name="s6"/>
          <p:cNvSpPr/>
          <p:nvPr/>
        </p:nvSpPr>
        <p:spPr>
          <a:xfrm>
            <a:off x="640080" y="5029200"/>
            <a:ext cx="5120640" cy="100584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/>
              </a:rPr>
              <a:t xml:space="preserve">THEME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Disaster Management &amp; Tactical Emergency Comm.</a:t>
            </a:r>
          </a:p>
        </p:txBody>
      </p:sp>
      <p:sp>
        <p:nvSpPr>
          <p:cNvPr id="7" name="s7"/>
          <p:cNvSpPr/>
          <p:nvPr/>
        </p:nvSpPr>
        <p:spPr>
          <a:xfrm>
            <a:off x="6035040" y="5029200"/>
            <a:ext cx="5120640" cy="100584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/>
              </a:rPr>
              <a:t xml:space="preserve">CATEGORY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Software — TinyML / Edge AI / Wireless Mesh</a:t>
            </a:r>
          </a:p>
        </p:txBody>
      </p:sp>
      <p:sp>
        <p:nvSpPr>
          <p:cNvPr id="8" name="s8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r">
            <a:pPr lvl="0" marL="0" indent="0">
              <a:buNone/>
            </a:pPr>
            <a:r>
              <a:rPr lang="en-US" sz="1000" dirty="0">
                <a:solidFill>
                  <a:srgbClr val="C9D4E3"/>
                </a:solidFill>
                <a:latin typeface="Calibri"/>
              </a:rPr>
              <a:t xml:space="preserve">Team iTantra  •  SIH2026 / ISRO-01  •  1 /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A"/>
        </a:solidFill>
      </p:bgPr>
    </p:bg>
    <p:spTree>
      <p:nvGrpSpPr>
        <p:cNvPr id="0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9" name="b9"/>
          <p:cNvSpPr/>
          <p:nvPr/>
        </p:nvSpPr>
        <p:spPr>
          <a:xfrm>
            <a:off x="457200" y="320040"/>
            <a:ext cx="548640" cy="7315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0" name="s10"/>
          <p:cNvSpPr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IDEA &amp; INNOVATION</a:t>
            </a:r>
          </a:p>
        </p:txBody>
      </p:sp>
      <p:sp>
        <p:nvSpPr>
          <p:cNvPr id="11" name="s11"/>
          <p:cNvSpPr/>
          <p:nvPr/>
        </p:nvSpPr>
        <p:spPr>
          <a:xfrm>
            <a:off x="457200" y="86868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 xml:space="preserve">iTantra — Send Meaning, Not Audio</a:t>
            </a:r>
          </a:p>
        </p:txBody>
      </p:sp>
      <p:sp>
        <p:nvSpPr>
          <p:cNvPr id="12" name="b12"/>
          <p:cNvSpPr/>
          <p:nvPr/>
        </p:nvSpPr>
        <p:spPr>
          <a:xfrm>
            <a:off x="457200" y="1691640"/>
            <a:ext cx="11274552" cy="32004"/>
          </a:xfrm>
          <a:prstGeom prst="rect">
            <a:avLst/>
          </a:prstGeom>
          <a:solidFill>
            <a:srgbClr val="24344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3" name="s13"/>
          <p:cNvSpPr/>
          <p:nvPr/>
        </p:nvSpPr>
        <p:spPr>
          <a:xfrm>
            <a:off x="457200" y="1783080"/>
            <a:ext cx="1371600" cy="6583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Speech</a:t>
            </a:r>
          </a:p>
        </p:txBody>
      </p:sp>
      <p:sp>
        <p:nvSpPr>
          <p:cNvPr id="14" name="s14"/>
          <p:cNvSpPr/>
          <p:nvPr/>
        </p:nvSpPr>
        <p:spPr>
          <a:xfrm>
            <a:off x="1828800" y="1783080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600" b="1" dirty="0">
                <a:solidFill>
                  <a:srgbClr val="FF6B1A"/>
                </a:solidFill>
                <a:latin typeface="Calibri"/>
              </a:rPr>
              <a:t xml:space="preserve">→</a:t>
            </a:r>
          </a:p>
        </p:txBody>
      </p:sp>
      <p:sp>
        <p:nvSpPr>
          <p:cNvPr id="15" name="s15"/>
          <p:cNvSpPr/>
          <p:nvPr/>
        </p:nvSpPr>
        <p:spPr>
          <a:xfrm>
            <a:off x="2084832" y="1783080"/>
            <a:ext cx="1371600" cy="65836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VAD</a:t>
            </a:r>
          </a:p>
        </p:txBody>
      </p:sp>
      <p:sp>
        <p:nvSpPr>
          <p:cNvPr id="16" name="s16"/>
          <p:cNvSpPr/>
          <p:nvPr/>
        </p:nvSpPr>
        <p:spPr>
          <a:xfrm>
            <a:off x="3456432" y="1783080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600" b="1" dirty="0">
                <a:solidFill>
                  <a:srgbClr val="FF6B1A"/>
                </a:solidFill>
                <a:latin typeface="Calibri"/>
              </a:rPr>
              <a:t xml:space="preserve">→</a:t>
            </a:r>
          </a:p>
        </p:txBody>
      </p:sp>
      <p:sp>
        <p:nvSpPr>
          <p:cNvPr id="17" name="s17"/>
          <p:cNvSpPr/>
          <p:nvPr/>
        </p:nvSpPr>
        <p:spPr>
          <a:xfrm>
            <a:off x="3712464" y="1783080"/>
            <a:ext cx="1371600" cy="65836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STT</a:t>
            </a:r>
          </a:p>
        </p:txBody>
      </p:sp>
      <p:sp>
        <p:nvSpPr>
          <p:cNvPr id="18" name="s18"/>
          <p:cNvSpPr/>
          <p:nvPr/>
        </p:nvSpPr>
        <p:spPr>
          <a:xfrm>
            <a:off x="5084064" y="1783080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600" b="1" dirty="0">
                <a:solidFill>
                  <a:srgbClr val="FF6B1A"/>
                </a:solidFill>
                <a:latin typeface="Calibri"/>
              </a:rPr>
              <a:t xml:space="preserve">→</a:t>
            </a:r>
          </a:p>
        </p:txBody>
      </p:sp>
      <p:sp>
        <p:nvSpPr>
          <p:cNvPr id="19" name="s19"/>
          <p:cNvSpPr/>
          <p:nvPr/>
        </p:nvSpPr>
        <p:spPr>
          <a:xfrm>
            <a:off x="5340096" y="1783080"/>
            <a:ext cx="1371600" cy="658368"/>
          </a:xfrm>
          <a:prstGeom prst="rect">
            <a:avLst/>
          </a:prstGeom>
          <a:solidFill>
            <a:srgbClr val="2BA84A"/>
          </a:solidFill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≤38B Token</a:t>
            </a:r>
          </a:p>
        </p:txBody>
      </p:sp>
      <p:sp>
        <p:nvSpPr>
          <p:cNvPr id="20" name="s20"/>
          <p:cNvSpPr/>
          <p:nvPr/>
        </p:nvSpPr>
        <p:spPr>
          <a:xfrm>
            <a:off x="6711696" y="1783080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600" b="1" dirty="0">
                <a:solidFill>
                  <a:srgbClr val="FF6B1A"/>
                </a:solidFill>
                <a:latin typeface="Calibri"/>
              </a:rPr>
              <a:t xml:space="preserve">→</a:t>
            </a:r>
          </a:p>
        </p:txBody>
      </p:sp>
      <p:sp>
        <p:nvSpPr>
          <p:cNvPr id="21" name="s21"/>
          <p:cNvSpPr/>
          <p:nvPr/>
        </p:nvSpPr>
        <p:spPr>
          <a:xfrm>
            <a:off x="6967728" y="1783080"/>
            <a:ext cx="1371600" cy="658368"/>
          </a:xfrm>
          <a:prstGeom prst="rect">
            <a:avLst/>
          </a:prstGeom>
          <a:solidFill>
            <a:srgbClr val="8338EC"/>
          </a:solidFill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Mesh Tx</a:t>
            </a:r>
          </a:p>
        </p:txBody>
      </p:sp>
      <p:sp>
        <p:nvSpPr>
          <p:cNvPr id="22" name="s22"/>
          <p:cNvSpPr/>
          <p:nvPr/>
        </p:nvSpPr>
        <p:spPr>
          <a:xfrm>
            <a:off x="8339328" y="1783080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600" b="1" dirty="0">
                <a:solidFill>
                  <a:srgbClr val="FF6B1A"/>
                </a:solidFill>
                <a:latin typeface="Calibri"/>
              </a:rPr>
              <a:t xml:space="preserve">→</a:t>
            </a:r>
          </a:p>
        </p:txBody>
      </p:sp>
      <p:sp>
        <p:nvSpPr>
          <p:cNvPr id="23" name="s23"/>
          <p:cNvSpPr/>
          <p:nvPr/>
        </p:nvSpPr>
        <p:spPr>
          <a:xfrm>
            <a:off x="8595360" y="1783080"/>
            <a:ext cx="1371600" cy="65836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TTS</a:t>
            </a:r>
          </a:p>
        </p:txBody>
      </p:sp>
      <p:sp>
        <p:nvSpPr>
          <p:cNvPr id="24" name="s24"/>
          <p:cNvSpPr/>
          <p:nvPr/>
        </p:nvSpPr>
        <p:spPr>
          <a:xfrm>
            <a:off x="9966960" y="1783080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600" b="1" dirty="0">
                <a:solidFill>
                  <a:srgbClr val="FF6B1A"/>
                </a:solidFill>
                <a:latin typeface="Calibri"/>
              </a:rPr>
              <a:t xml:space="preserve">→</a:t>
            </a:r>
          </a:p>
        </p:txBody>
      </p:sp>
      <p:sp>
        <p:nvSpPr>
          <p:cNvPr id="25" name="s25"/>
          <p:cNvSpPr/>
          <p:nvPr/>
        </p:nvSpPr>
        <p:spPr>
          <a:xfrm>
            <a:off x="10222992" y="1783080"/>
            <a:ext cx="1371600" cy="6583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Voice</a:t>
            </a:r>
          </a:p>
        </p:txBody>
      </p:sp>
      <p:sp>
        <p:nvSpPr>
          <p:cNvPr id="26" name="s26"/>
          <p:cNvSpPr/>
          <p:nvPr/>
        </p:nvSpPr>
        <p:spPr>
          <a:xfrm>
            <a:off x="457200" y="2606040"/>
            <a:ext cx="3611880" cy="2148840"/>
          </a:xfrm>
          <a:prstGeom prst="rect">
            <a:avLst/>
          </a:prstGeom>
          <a:solidFill>
            <a:srgbClr val="E9EFFA"/>
          </a:solidFill>
          <a:ln w="12700">
            <a:solidFill>
              <a:srgbClr val="6C3CE0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500" b="1" dirty="0">
                <a:solidFill>
                  <a:srgbClr val="6C3CE0"/>
                </a:solidFill>
                <a:latin typeface="Calibri"/>
              </a:rPr>
              <a:t xml:space="preserve">PROBLEM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/>
              </a:rPr>
              <a:t xml:space="preserve">•  Voice audio too heavy for low-rate links.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/>
              </a:rPr>
              <a:t xml:space="preserve">•  Text alerts exclude non-literate users.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/>
              </a:rPr>
              <a:t xml:space="preserve">•  STT must fire on pauses, form sentences, stream instantly.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/>
              </a:rPr>
              <a:t xml:space="preserve">•  Alerts must be voice: max-volume, non-interruptible.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/>
              </a:rPr>
              <a:t xml:space="preserve">•  10 languages, offline, on low-power phones.</a:t>
            </a:r>
          </a:p>
        </p:txBody>
      </p:sp>
      <p:sp>
        <p:nvSpPr>
          <p:cNvPr id="27" name="s27"/>
          <p:cNvSpPr/>
          <p:nvPr/>
        </p:nvSpPr>
        <p:spPr>
          <a:xfrm>
            <a:off x="4206240" y="2606040"/>
            <a:ext cx="3611880" cy="2148840"/>
          </a:xfrm>
          <a:prstGeom prst="rect">
            <a:avLst/>
          </a:prstGeom>
          <a:solidFill>
            <a:srgbClr val="16294A"/>
          </a:solidFill>
          <a:ln w="12700">
            <a:solidFill>
              <a:srgbClr val="00C2A8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/>
              </a:rPr>
              <a:t xml:space="preserve">OUR SOLUTION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Silero pause-detect → dual-engine STT → sentence formation.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Speech → ≤38 B token, ≈0.5 kbps: one UDP packet.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Wi-Fi Direct / BT mesh; ChaCha20 + RS-FEC repair.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Receiver TTS in own language; SOS siren override.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PTT walkie-talkie / phone / SOS; 100% OSS, zero cloud.</a:t>
            </a:r>
          </a:p>
        </p:txBody>
      </p:sp>
      <p:sp>
        <p:nvSpPr>
          <p:cNvPr id="28" name="s28"/>
          <p:cNvSpPr/>
          <p:nvPr/>
        </p:nvSpPr>
        <p:spPr>
          <a:xfrm>
            <a:off x="7955279" y="2606040"/>
            <a:ext cx="3319272" cy="2148840"/>
          </a:xfrm>
          <a:prstGeom prst="rect">
            <a:avLst/>
          </a:prstGeom>
          <a:solidFill>
            <a:srgbClr val="16294A"/>
          </a:solidFill>
          <a:ln w="12700">
            <a:solidFill>
              <a:srgbClr val="FF6B1A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WHY DIFFERENT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Voice notes need internet + MBs; dead in blackouts.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Radios: one language, no translation, extra hardware.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Cloud STT: proprietary, needs network, leaks voice.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Text-mesh excludes non-literate users.</a:t>
            </a:r>
          </a:p>
          <a:p>
            <a:pPr lvl="0"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•  Single-model STT fails the south (CER 0.45–0.61).</a:t>
            </a:r>
          </a:p>
        </p:txBody>
      </p:sp>
      <p:sp>
        <p:nvSpPr>
          <p:cNvPr id="29" name="s29"/>
          <p:cNvSpPr/>
          <p:nvPr/>
        </p:nvSpPr>
        <p:spPr>
          <a:xfrm>
            <a:off x="457200" y="4846320"/>
            <a:ext cx="11274552" cy="1417320"/>
          </a:xfrm>
          <a:prstGeom prst="rect">
            <a:avLst/>
          </a:prstGeom>
          <a:solidFill>
            <a:srgbClr val="2A1A08"/>
          </a:solidFill>
          <a:ln w="12700">
            <a:solidFill>
              <a:srgbClr val="FF6B1A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/>
              </a:rPr>
              <a:t xml:space="preserve">KEY VALUE PROPOSITION  •  ≈256–512× less RF (0.5 kbps msg vs 128–256 kbps raw)  •  CER 0.03–0.34  •  467 + 15 tests green  •  APK 270 MB  •  CPU-only</a:t>
            </a:r>
          </a:p>
          <a:p>
            <a:pPr lvl="0"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★ Fine-tuning roadmap: </a:t>
            </a: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P1 shipped (south-indic)  →  P2 Kathbath 1,700 h + Vaani 7,000 h  →  P3 synthetic disaster vocabulary</a:t>
            </a:r>
          </a:p>
        </p:txBody>
      </p:sp>
      <p:sp>
        <p:nvSpPr>
          <p:cNvPr id="30" name="s3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r">
            <a:pPr lvl="0" marL="0" indent="0">
              <a:buNone/>
            </a:pPr>
            <a:r>
              <a:rPr lang="en-US" sz="1000" dirty="0">
                <a:solidFill>
                  <a:srgbClr val="C9D4E3"/>
                </a:solidFill>
                <a:latin typeface="Calibri"/>
              </a:rPr>
              <a:t xml:space="preserve">Team iTantra  •  SIH2026 / ISRO-01  •  2 /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A"/>
        </a:solidFill>
      </p:bgPr>
    </p:bg>
    <p:spTree>
      <p:nvGrpSpPr>
        <p:cNvPr id="0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1" name="b31"/>
          <p:cNvSpPr/>
          <p:nvPr/>
        </p:nvSpPr>
        <p:spPr>
          <a:xfrm>
            <a:off x="457200" y="320040"/>
            <a:ext cx="548640" cy="7315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32" name="s32"/>
          <p:cNvSpPr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TECHNICAL APPROACH</a:t>
            </a:r>
          </a:p>
        </p:txBody>
      </p:sp>
      <p:sp>
        <p:nvSpPr>
          <p:cNvPr id="33" name="s33"/>
          <p:cNvSpPr/>
          <p:nvPr/>
        </p:nvSpPr>
        <p:spPr>
          <a:xfrm>
            <a:off x="457200" y="86868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 xml:space="preserve">Sender → mesh → receiver</a:t>
            </a:r>
          </a:p>
        </p:txBody>
      </p:sp>
      <p:sp>
        <p:nvSpPr>
          <p:cNvPr id="34" name="b34"/>
          <p:cNvSpPr/>
          <p:nvPr/>
        </p:nvSpPr>
        <p:spPr>
          <a:xfrm>
            <a:off x="457200" y="1691640"/>
            <a:ext cx="11274552" cy="32004"/>
          </a:xfrm>
          <a:prstGeom prst="rect">
            <a:avLst/>
          </a:prstGeom>
          <a:solidFill>
            <a:srgbClr val="24344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35" name="s35"/>
          <p:cNvSpPr/>
          <p:nvPr/>
        </p:nvSpPr>
        <p:spPr>
          <a:xfrm>
            <a:off x="457200" y="1920240"/>
            <a:ext cx="11274552" cy="868680"/>
          </a:xfrm>
          <a:prstGeom prst="rect">
            <a:avLst/>
          </a:prstGeom>
          <a:solidFill>
            <a:srgbClr val="16294A"/>
          </a:solidFill>
          <a:ln w="12700">
            <a:solidFill>
              <a:srgbClr val="00C2A8"/>
            </a:solidFill>
          </a:ln>
        </p:spPr>
        <p:txBody>
          <a:bodyPr wrap="square" lIns="91440" rIns="91440" tIns="45720" bIns="45720">
            <a:noAutofit/>
          </a:bodyPr>
          <a:lstStyle/>
          <a:p alg="ctr">
            <a:pPr lvl="0"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 xml:space="preserve">16 kHz PCM  →  Silero VAD  →  Hybrid STT (Conformer / Whisper)  →  Semantic token ≤38 B  →  ChaCha20 + RS-FEC  →  UDP / Wi-Fi Direct / BT  →  TTS  →  Voice / Siren</a:t>
            </a:r>
          </a:p>
        </p:txBody>
      </p:sp>
      <p:sp>
        <p:nvSpPr>
          <p:cNvPr id="36" name="s36"/>
          <p:cNvSpPr/>
          <p:nvPr/>
        </p:nvSpPr>
        <p:spPr>
          <a:xfrm>
            <a:off x="457200" y="2971800"/>
            <a:ext cx="5394960" cy="320040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/>
              </a:rPr>
              <a:t xml:space="preserve">STACK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App + audio: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Kotlin/Coroutines; C++20 + Oboe 16 kHz mono; JNI bridge.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AI on CPU only: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Silero VAD 2.3 MB + Conformer INT8 + whisper.cpp Q8_0; -O2, 4 threads.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Store + forward: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Protobuf frames, Room/SQLite audit log, background queue.</a:t>
            </a:r>
          </a:p>
        </p:txBody>
      </p:sp>
      <p:sp>
        <p:nvSpPr>
          <p:cNvPr id="37" name="s37"/>
          <p:cNvSpPr/>
          <p:nvPr/>
        </p:nvSpPr>
        <p:spPr>
          <a:xfrm>
            <a:off x="6336792" y="2971800"/>
            <a:ext cx="5394960" cy="320040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/>
              </a:rPr>
              <a:t xml:space="preserve">MODES &amp; PACKET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Modes: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PTT walkie-talkie • normal chat • SOS siren broadcast.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38-B frame: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header (node, lang, priority, time) + payload + CRC32.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Survivability: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RS(255,223) burst-loss recovery; Huffman tier; fragmentation.</a:t>
            </a:r>
          </a:p>
        </p:txBody>
      </p:sp>
      <p:sp>
        <p:nvSpPr>
          <p:cNvPr id="38" name="s38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r">
            <a:pPr lvl="0" marL="0" indent="0">
              <a:buNone/>
            </a:pPr>
            <a:r>
              <a:rPr lang="en-US" sz="1000" dirty="0">
                <a:solidFill>
                  <a:srgbClr val="C9D4E3"/>
                </a:solidFill>
                <a:latin typeface="Calibri"/>
              </a:rPr>
              <a:t xml:space="preserve">Team iTantra  •  SIH2026 / ISRO-01  •  3 /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A"/>
        </a:solidFill>
      </p:bgPr>
    </p:bg>
    <p:spTree>
      <p:nvGrpSpPr>
        <p:cNvPr id="0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39" name="b39"/>
          <p:cNvSpPr/>
          <p:nvPr/>
        </p:nvSpPr>
        <p:spPr>
          <a:xfrm>
            <a:off x="457200" y="320040"/>
            <a:ext cx="548640" cy="7315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0" name="s40"/>
          <p:cNvSpPr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FEASIBILITY &amp; VIABILITY</a:t>
            </a:r>
          </a:p>
        </p:txBody>
      </p:sp>
      <p:sp>
        <p:nvSpPr>
          <p:cNvPr id="41" name="s41"/>
          <p:cNvSpPr/>
          <p:nvPr/>
        </p:nvSpPr>
        <p:spPr>
          <a:xfrm>
            <a:off x="457200" y="86868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 xml:space="preserve">Measured on-device, not slides</a:t>
            </a:r>
          </a:p>
        </p:txBody>
      </p:sp>
      <p:sp>
        <p:nvSpPr>
          <p:cNvPr id="42" name="b42"/>
          <p:cNvSpPr/>
          <p:nvPr/>
        </p:nvSpPr>
        <p:spPr>
          <a:xfrm>
            <a:off x="457200" y="1691640"/>
            <a:ext cx="11274552" cy="32004"/>
          </a:xfrm>
          <a:prstGeom prst="rect">
            <a:avLst/>
          </a:prstGeom>
          <a:solidFill>
            <a:srgbClr val="24344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3" name="s43"/>
          <p:cNvSpPr/>
          <p:nvPr/>
        </p:nvSpPr>
        <p:spPr>
          <a:xfrm>
            <a:off x="457200" y="1920240"/>
            <a:ext cx="5394960" cy="420624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/>
              </a:rPr>
              <a:t xml:space="preserve">VALIDATION  (measured)</a:t>
            </a:r>
          </a:p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•  467 backend + 15 integration tests green; 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Sep 2026 run (10 skipped); transport 4/4.</a:t>
            </a:r>
          </a:p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•  ≤38 B payload (code MAX_FRAME_SIZE), ≈0.5 kbps/msg; 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Dravidian CER 0.05–0.34; hi 0.03.</a:t>
            </a:r>
          </a:p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•  APK 270 MB (≤300 cap); 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device 3353f694 ADB-verified; CPU-only, power draw Not Yet Tested.</a:t>
            </a:r>
          </a:p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•  Scales: 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2-node PTT → 10-node team → multi-hop cluster.</a:t>
            </a:r>
          </a:p>
        </p:txBody>
      </p:sp>
      <p:sp>
        <p:nvSpPr>
          <p:cNvPr id="44" name="s44"/>
          <p:cNvSpPr/>
          <p:nvPr/>
        </p:nvSpPr>
        <p:spPr>
          <a:xfrm>
            <a:off x="6336792" y="1920240"/>
            <a:ext cx="5394960" cy="420624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/>
              </a:rPr>
              <a:t xml:space="preserve">RISKS → FIXES</a:t>
            </a:r>
          </a:p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•  Small RAM phones → 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INT8/Q8_0 models + lazy load (gated langs only).</a:t>
            </a:r>
          </a:p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•  Dialect errors → 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P2 fine-tune on Kathbath + Vaani corpora.</a:t>
            </a:r>
          </a:p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•  Packet loss → 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RS-FEC parity + retries + fragmentation.</a:t>
            </a:r>
          </a:p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•  Collisions / noise → 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CSMA/CA channel lock; VAD + noise gate pre-STT.</a:t>
            </a:r>
          </a:p>
        </p:txBody>
      </p:sp>
      <p:sp>
        <p:nvSpPr>
          <p:cNvPr id="45" name="s45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r">
            <a:pPr lvl="0" marL="0" indent="0">
              <a:buNone/>
            </a:pPr>
            <a:r>
              <a:rPr lang="en-US" sz="1000" dirty="0">
                <a:solidFill>
                  <a:srgbClr val="C9D4E3"/>
                </a:solidFill>
                <a:latin typeface="Calibri"/>
              </a:rPr>
              <a:t xml:space="preserve">Team iTantra  •  SIH2026 / ISRO-01  •  4 /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A"/>
        </a:solidFill>
      </p:bgPr>
    </p:bg>
    <p:spTree>
      <p:nvGrpSpPr>
        <p:cNvPr id="0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46" name="b46"/>
          <p:cNvSpPr/>
          <p:nvPr/>
        </p:nvSpPr>
        <p:spPr>
          <a:xfrm>
            <a:off x="457200" y="320040"/>
            <a:ext cx="548640" cy="7315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7" name="s47"/>
          <p:cNvSpPr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IMPACT &amp; VALUE</a:t>
            </a:r>
          </a:p>
        </p:txBody>
      </p:sp>
      <p:sp>
        <p:nvSpPr>
          <p:cNvPr id="48" name="s48"/>
          <p:cNvSpPr/>
          <p:nvPr/>
        </p:nvSpPr>
        <p:spPr>
          <a:xfrm>
            <a:off x="457200" y="86868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 xml:space="preserve">Who gains, and how much</a:t>
            </a:r>
          </a:p>
        </p:txBody>
      </p:sp>
      <p:sp>
        <p:nvSpPr>
          <p:cNvPr id="49" name="b49"/>
          <p:cNvSpPr/>
          <p:nvPr/>
        </p:nvSpPr>
        <p:spPr>
          <a:xfrm>
            <a:off x="457200" y="1691640"/>
            <a:ext cx="11274552" cy="32004"/>
          </a:xfrm>
          <a:prstGeom prst="rect">
            <a:avLst/>
          </a:prstGeom>
          <a:solidFill>
            <a:srgbClr val="24344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50" name="s50"/>
          <p:cNvSpPr/>
          <p:nvPr/>
        </p:nvSpPr>
        <p:spPr>
          <a:xfrm>
            <a:off x="457200" y="1920240"/>
            <a:ext cx="5394960" cy="420624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/>
              </a:rPr>
              <a:t xml:space="preserve">PEOPLE &amp; OPS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Social: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voice-in/voice-out in 10 languages; works for non-literate users.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Admin: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NDRF/police/fire/medical coordinate cross-language; SOS siren override.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Economic: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runs on ordinary phones; zero cloud/data bills.</a:t>
            </a:r>
          </a:p>
        </p:txBody>
      </p:sp>
      <p:sp>
        <p:nvSpPr>
          <p:cNvPr id="51" name="s51"/>
          <p:cNvSpPr/>
          <p:nvPr/>
        </p:nvSpPr>
        <p:spPr>
          <a:xfrm>
            <a:off x="6336792" y="1920240"/>
            <a:ext cx="5394960" cy="420624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/>
              </a:rPr>
              <a:t xml:space="preserve">TRUST &amp; NATION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Privacy: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voice never leaves the phone; open-source auditable stack.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Green: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≈256–512× less RF (0.5 kbps msg vs 128–256 kbps raw); longer life for existing handsets.</a:t>
            </a:r>
          </a:p>
          <a:p>
            <a:pPr lvl="0" marL="0" indent="0">
              <a:buNone/>
            </a:pPr>
            <a:r>
              <a:rPr lang="en-US" sz="1400" b="1" dirty="0">
                <a:solidFill>
                  <a:srgbClr val="FF6B1A"/>
                </a:solidFill>
                <a:latin typeface="Calibri"/>
              </a:rPr>
              <a:t xml:space="preserve">•  Atmanirbhar: 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 xml:space="preserve">indigenous stack, works through total grid/internet blackout.</a:t>
            </a:r>
          </a:p>
        </p:txBody>
      </p:sp>
      <p:sp>
        <p:nvSpPr>
          <p:cNvPr id="52" name="s52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r">
            <a:pPr lvl="0" marL="0" indent="0">
              <a:buNone/>
            </a:pPr>
            <a:r>
              <a:rPr lang="en-US" sz="1000" dirty="0">
                <a:solidFill>
                  <a:srgbClr val="C9D4E3"/>
                </a:solidFill>
                <a:latin typeface="Calibri"/>
              </a:rPr>
              <a:t xml:space="preserve">Team iTantra  •  SIH2026 / ISRO-01  •  5 /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A"/>
        </a:solidFill>
      </p:bgPr>
    </p:bg>
    <p:spTree>
      <p:nvGrpSpPr>
        <p:cNvPr id="0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53" name="b53"/>
          <p:cNvSpPr/>
          <p:nvPr/>
        </p:nvSpPr>
        <p:spPr>
          <a:xfrm>
            <a:off x="457200" y="320040"/>
            <a:ext cx="548640" cy="7315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54" name="s54"/>
          <p:cNvSpPr/>
          <p:nvPr/>
        </p:nvSpPr>
        <p:spPr>
          <a:xfrm>
            <a:off x="457200" y="502920"/>
            <a:ext cx="1127455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/>
              </a:rPr>
              <a:t xml:space="preserve">RESEARCH &amp; REFERENCES</a:t>
            </a:r>
          </a:p>
        </p:txBody>
      </p:sp>
      <p:sp>
        <p:nvSpPr>
          <p:cNvPr id="55" name="s55"/>
          <p:cNvSpPr/>
          <p:nvPr/>
        </p:nvSpPr>
        <p:spPr>
          <a:xfrm>
            <a:off x="457200" y="868680"/>
            <a:ext cx="11274552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 xml:space="preserve">Every claim traces to a source</a:t>
            </a:r>
          </a:p>
        </p:txBody>
      </p:sp>
      <p:sp>
        <p:nvSpPr>
          <p:cNvPr id="56" name="b56"/>
          <p:cNvSpPr/>
          <p:nvPr/>
        </p:nvSpPr>
        <p:spPr>
          <a:xfrm>
            <a:off x="457200" y="1691640"/>
            <a:ext cx="11274552" cy="32004"/>
          </a:xfrm>
          <a:prstGeom prst="rect">
            <a:avLst/>
          </a:prstGeom>
          <a:solidFill>
            <a:srgbClr val="24344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57" name="s57"/>
          <p:cNvSpPr/>
          <p:nvPr/>
        </p:nvSpPr>
        <p:spPr>
          <a:xfrm>
            <a:off x="457200" y="1920240"/>
            <a:ext cx="5394960" cy="420624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/>
              </a:rPr>
              <a:t xml:space="preserve">PROBLEM + AI</a:t>
            </a:r>
          </a:p>
          <a:p>
            <a:pPr lvl="0"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•  ITU emergency-telecom handbook; NDMA plan; ISRO/SIH-2026 PS.</a:t>
            </a:r>
          </a:p>
          <a:p>
            <a:pPr lvl="0"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•  AI4Bharat IndicConformer + Kathbath (IIT-M).</a:t>
            </a:r>
          </a:p>
          <a:p>
            <a:pPr lvl="0"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•  ARTPARK-Vaani 7,000 h Indic corpus (IISc) — P2 tuning data.</a:t>
            </a:r>
          </a:p>
          <a:p>
            <a:pPr lvl="0"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•  parambharat/whisper-tiny-south-indic (HF) + whisper.cpp.</a:t>
            </a:r>
          </a:p>
          <a:p>
            <a:pPr lvl="0"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•  Silero VAD — speech gating pre-STT.</a:t>
            </a:r>
          </a:p>
        </p:txBody>
      </p:sp>
      <p:sp>
        <p:nvSpPr>
          <p:cNvPr id="58" name="s58"/>
          <p:cNvSpPr/>
          <p:nvPr/>
        </p:nvSpPr>
        <p:spPr>
          <a:xfrm>
            <a:off x="6336792" y="1920240"/>
            <a:ext cx="5394960" cy="4206240"/>
          </a:xfrm>
          <a:prstGeom prst="rect">
            <a:avLst/>
          </a:prstGeom>
          <a:solidFill>
            <a:srgbClr val="16294A"/>
          </a:solidFill>
          <a:ln w="12700">
            <a:solidFill>
              <a:srgbClr val="24344F"/>
            </a:solidFill>
          </a:ln>
        </p:spPr>
        <p:txBody>
          <a:bodyPr wrap="square" lIns="91440" rIns="91440" tIns="45720" bIns="45720">
            <a:noAutofit/>
          </a:bodyPr>
          <a:lstStyle/>
          <a:p>
            <a:pPr lvl="0"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/>
              </a:rPr>
              <a:t xml:space="preserve">MARKET + PROOF</a:t>
            </a:r>
          </a:p>
          <a:p>
            <a:pPr lvl="0"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•  MarketsandMarkets, Critical Communications, Global, 2024: $18.4B (2024) → $34.8B (2030), 11.2% CAGR.</a:t>
            </a:r>
          </a:p>
          <a:p>
            <a:pPr lvl="0"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•  TRAI Performance Indicators, India, 2024: ~1.19B wireless subscribers (Est., unverified here).</a:t>
            </a:r>
          </a:p>
          <a:p>
            <a:pPr lvl="0"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•  iTantra audit, Sep 2026: 467 backend + 15 integration tests green; ≤38 B payload.</a:t>
            </a:r>
          </a:p>
          <a:p>
            <a:pPr lvl="0"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 xml:space="preserve">•  STT_GATE_RESULTS.md, Sep 2026: laptop CER gate + on-device parity.</a:t>
            </a:r>
          </a:p>
        </p:txBody>
      </p:sp>
      <p:sp>
        <p:nvSpPr>
          <p:cNvPr id="59" name="s59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Autofit/>
          </a:bodyPr>
          <a:lstStyle/>
          <a:p alg="r">
            <a:pPr lvl="0" marL="0" indent="0">
              <a:buNone/>
            </a:pPr>
            <a:r>
              <a:rPr lang="en-US" sz="1000" dirty="0">
                <a:solidFill>
                  <a:srgbClr val="C9D4E3"/>
                </a:solidFill>
                <a:latin typeface="Calibri"/>
              </a:rPr>
              <a:t xml:space="preserve">Team iTantra  •  SIH2026 / ISRO-01  •  6 /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iTantra">
  <a:themeElements>
    <a:clrScheme name="iTantra">
      <a:dk1>
        <a:srgbClr val="0B1E3A"/>
      </a:dk1>
      <a:lt1>
        <a:srgbClr val="FFFFFF"/>
      </a:lt1>
      <a:dk2>
        <a:srgbClr val="16294A"/>
      </a:dk2>
      <a:lt2>
        <a:srgbClr val="C9D4E3"/>
      </a:lt2>
      <a:accent1>
        <a:srgbClr val="FF6B1A"/>
      </a:accent1>
      <a:accent2>
        <a:srgbClr val="00C2A8"/>
      </a:accent2>
      <a:accent3>
        <a:srgbClr val="3A86FF"/>
      </a:accent3>
      <a:accent4>
        <a:srgbClr val="8338EC"/>
      </a:accent4>
      <a:accent5>
        <a:srgbClr val="FFBE0B"/>
      </a:accent5>
      <a:accent6>
        <a:srgbClr val="FB5607"/>
      </a:accent6>
      <a:hlink>
        <a:srgbClr val="3A86FF"/>
      </a:hlink>
      <a:folHlink>
        <a:srgbClr val="8338EC"/>
      </a:folHlink>
    </a:clrScheme>
    <a:fmtScheme name="iTantr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iTantra build script</Application>
  <PresentationFormat>Widescreen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iTantra — SIH 2026</dc:title>
  <dc:creator>Team iTantra</dc:creator>
</cp:coreProperties>
</file>