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r:id="rId7"/>
  </p:sldMasterIdLst>
  <p:sldIdLst>
    <p:sldId id="256" r:id="rId1"/>
    <p:sldId id="257" r:id="rId2"/>
    <p:sldId id="258" r:id="rId3"/>
    <p:sldId id="259" r:id="rId4"/>
    <p:sldId id="260" r:id="rId5"/>
    <p:sldId id="261" r:id="rId6"/>
  </p:sldIdLst>
  <p:sldSz cx="12191695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Master" Target="slideMasters/slideMaster1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/>
  </p:sldLayoutIdLst>
  <p:txStyles>
    <p:titleStyle>
      <a:lvl1pPr>
        <a:defRPr sz="4400">
          <a:solidFill>
            <a:srgbClr val="FFFFFF"/>
          </a:solidFill>
          <a:latin typeface="Calibri"/>
        </a:defRPr>
      </a:lvl1pPr>
    </p:titleStyle>
    <p:bodyStyle>
      <a:lvl1pPr>
        <a:defRPr sz="1800">
          <a:solidFill>
            <a:srgbClr val="FFFFFF"/>
          </a:solidFill>
          <a:latin typeface="Calibri"/>
        </a:defRPr>
      </a:lvl1pPr>
    </p:bodyStyle>
    <p:otherStyle>
      <a:lvl1pPr>
        <a:defRPr sz="1800">
          <a:solidFill>
            <a:srgbClr val="FFFFFF"/>
          </a:solidFill>
          <a:latin typeface="Calibri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1" name="b1"/>
          <p:cNvSpPr/>
          <p:nvPr/>
        </p:nvSpPr>
        <p:spPr>
          <a:xfrm>
            <a:off x="640080" y="1005840"/>
            <a:ext cx="822960" cy="91440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2" name="s2"/>
          <p:cNvSpPr/>
          <p:nvPr/>
        </p:nvSpPr>
        <p:spPr>
          <a:xfrm>
            <a:off x="640080" y="128016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SIH 2026  •  PROBLEM STATEMENT ISRO-01  •  TEAM iTANTRA</a:t>
            </a:r>
          </a:p>
        </p:txBody>
      </p:sp>
      <p:sp>
        <p:nvSpPr>
          <p:cNvPr id="3" name="s3"/>
          <p:cNvSpPr/>
          <p:nvPr/>
        </p:nvSpPr>
        <p:spPr>
          <a:xfrm>
            <a:off x="640080" y="1783080"/>
            <a:ext cx="10881360" cy="1280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/>
              </a:rPr>
              <a:t xml:space="preserve">iTantra</a:t>
            </a:r>
          </a:p>
        </p:txBody>
      </p:sp>
      <p:sp>
        <p:nvSpPr>
          <p:cNvPr id="4" name="s4"/>
          <p:cNvSpPr/>
          <p:nvPr/>
        </p:nvSpPr>
        <p:spPr>
          <a:xfrm>
            <a:off x="640080" y="2880360"/>
            <a:ext cx="10881360" cy="10058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/>
              </a:rPr>
              <a:t xml:space="preserve">Ultra-Low Bitrate Offline Multilingual Walkie-Talkie &amp; Tactical Emergency Mesh</a:t>
            </a:r>
          </a:p>
        </p:txBody>
      </p:sp>
      <p:sp>
        <p:nvSpPr>
          <p:cNvPr id="5" name="s5"/>
          <p:cNvSpPr/>
          <p:nvPr/>
        </p:nvSpPr>
        <p:spPr>
          <a:xfrm>
            <a:off x="640080" y="3977639"/>
            <a:ext cx="1088136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dirty="0">
                <a:solidFill>
                  <a:srgbClr val="C9D4E3"/>
                </a:solidFill>
                <a:latin typeface="Calibri"/>
              </a:rPr>
              <a:t xml:space="preserve">Lightweight on-device STT + TTS for 10 Indian languages — no towers, no internet, no cloud.  Speech in, voice out.</a:t>
            </a:r>
          </a:p>
        </p:txBody>
      </p:sp>
      <p:sp>
        <p:nvSpPr>
          <p:cNvPr id="6" name="s6"/>
          <p:cNvSpPr/>
          <p:nvPr/>
        </p:nvSpPr>
        <p:spPr>
          <a:xfrm>
            <a:off x="64008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THEME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Disaster Management &amp; Tactical Emergency Comm.</a:t>
            </a:r>
          </a:p>
        </p:txBody>
      </p:sp>
      <p:sp>
        <p:nvSpPr>
          <p:cNvPr id="7" name="s7"/>
          <p:cNvSpPr/>
          <p:nvPr/>
        </p:nvSpPr>
        <p:spPr>
          <a:xfrm>
            <a:off x="6035040" y="5029200"/>
            <a:ext cx="5120640" cy="10058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00C2A8"/>
                </a:solidFill>
                <a:latin typeface="Calibri"/>
              </a:rPr>
              <a:t xml:space="preserve">CATEGORY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Software — TinyML / Edge AI / Wireless Mesh</a:t>
            </a:r>
          </a:p>
        </p:txBody>
      </p:sp>
      <p:sp>
        <p:nvSpPr>
          <p:cNvPr id="8" name="s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1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9" name="b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0" name="s1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IDEA &amp; INNOVATION</a:t>
            </a:r>
          </a:p>
        </p:txBody>
      </p:sp>
      <p:sp>
        <p:nvSpPr>
          <p:cNvPr id="11" name="s1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iTantra — Send Meaning, Not Audio</a:t>
            </a:r>
          </a:p>
        </p:txBody>
      </p:sp>
      <p:sp>
        <p:nvSpPr>
          <p:cNvPr id="12" name="b1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13" name="s13"/>
          <p:cNvSpPr/>
          <p:nvPr/>
        </p:nvSpPr>
        <p:spPr>
          <a:xfrm>
            <a:off x="457200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Speech</a:t>
            </a:r>
          </a:p>
        </p:txBody>
      </p:sp>
      <p:sp>
        <p:nvSpPr>
          <p:cNvPr id="14" name="s14"/>
          <p:cNvSpPr/>
          <p:nvPr/>
        </p:nvSpPr>
        <p:spPr>
          <a:xfrm>
            <a:off x="182880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5" name="s15"/>
          <p:cNvSpPr/>
          <p:nvPr/>
        </p:nvSpPr>
        <p:spPr>
          <a:xfrm>
            <a:off x="2084832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VAD</a:t>
            </a:r>
          </a:p>
        </p:txBody>
      </p:sp>
      <p:sp>
        <p:nvSpPr>
          <p:cNvPr id="16" name="s16"/>
          <p:cNvSpPr/>
          <p:nvPr/>
        </p:nvSpPr>
        <p:spPr>
          <a:xfrm>
            <a:off x="3456432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7" name="s17"/>
          <p:cNvSpPr/>
          <p:nvPr/>
        </p:nvSpPr>
        <p:spPr>
          <a:xfrm>
            <a:off x="3712464" y="1783080"/>
            <a:ext cx="1371600" cy="658368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STT</a:t>
            </a:r>
          </a:p>
        </p:txBody>
      </p:sp>
      <p:sp>
        <p:nvSpPr>
          <p:cNvPr id="18" name="s18"/>
          <p:cNvSpPr/>
          <p:nvPr/>
        </p:nvSpPr>
        <p:spPr>
          <a:xfrm>
            <a:off x="5084064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19" name="s19"/>
          <p:cNvSpPr/>
          <p:nvPr/>
        </p:nvSpPr>
        <p:spPr>
          <a:xfrm>
            <a:off x="5340096" y="1783080"/>
            <a:ext cx="1371600" cy="658368"/>
          </a:xfrm>
          <a:prstGeom prst="rect">
            <a:avLst/>
          </a:prstGeom>
          <a:solidFill>
            <a:srgbClr val="2BA84A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UTF-8 Text</a:t>
            </a:r>
          </a:p>
        </p:txBody>
      </p:sp>
      <p:sp>
        <p:nvSpPr>
          <p:cNvPr id="20" name="s20"/>
          <p:cNvSpPr/>
          <p:nvPr/>
        </p:nvSpPr>
        <p:spPr>
          <a:xfrm>
            <a:off x="6711696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1" name="s21"/>
          <p:cNvSpPr/>
          <p:nvPr/>
        </p:nvSpPr>
        <p:spPr>
          <a:xfrm>
            <a:off x="6967728" y="1783080"/>
            <a:ext cx="1371600" cy="658368"/>
          </a:xfrm>
          <a:prstGeom prst="rect">
            <a:avLst/>
          </a:prstGeom>
          <a:solidFill>
            <a:srgbClr val="8338EC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Mesh Tx</a:t>
            </a:r>
          </a:p>
        </p:txBody>
      </p:sp>
      <p:sp>
        <p:nvSpPr>
          <p:cNvPr id="22" name="s22"/>
          <p:cNvSpPr/>
          <p:nvPr/>
        </p:nvSpPr>
        <p:spPr>
          <a:xfrm>
            <a:off x="8339328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3" name="s23"/>
          <p:cNvSpPr/>
          <p:nvPr/>
        </p:nvSpPr>
        <p:spPr>
          <a:xfrm>
            <a:off x="8595360" y="1783080"/>
            <a:ext cx="1371600" cy="658368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TTS</a:t>
            </a:r>
          </a:p>
        </p:txBody>
      </p:sp>
      <p:sp>
        <p:nvSpPr>
          <p:cNvPr id="24" name="s24"/>
          <p:cNvSpPr/>
          <p:nvPr/>
        </p:nvSpPr>
        <p:spPr>
          <a:xfrm>
            <a:off x="9966960" y="1783080"/>
            <a:ext cx="256032" cy="65836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600" b="1" dirty="0">
                <a:solidFill>
                  <a:srgbClr val="FF6B1A"/>
                </a:solidFill>
                <a:latin typeface="Calibri"/>
              </a:rPr>
              <a:t xml:space="preserve">→</a:t>
            </a:r>
          </a:p>
        </p:txBody>
      </p:sp>
      <p:sp>
        <p:nvSpPr>
          <p:cNvPr id="25" name="s25"/>
          <p:cNvSpPr/>
          <p:nvPr/>
        </p:nvSpPr>
        <p:spPr>
          <a:xfrm>
            <a:off x="10222992" y="1783080"/>
            <a:ext cx="1371600" cy="658368"/>
          </a:xfrm>
          <a:prstGeom prst="rect">
            <a:avLst/>
          </a:prstGeom>
          <a:solidFill>
            <a:srgbClr val="00C2A8"/>
          </a:solidFill>
          <a:ln>
            <a:noFill/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Voice</a:t>
            </a:r>
          </a:p>
        </p:txBody>
      </p:sp>
      <p:sp>
        <p:nvSpPr>
          <p:cNvPr id="26" name="s26"/>
          <p:cNvSpPr/>
          <p:nvPr/>
        </p:nvSpPr>
        <p:spPr>
          <a:xfrm>
            <a:off x="457200" y="2606040"/>
            <a:ext cx="3611880" cy="2148840"/>
          </a:xfrm>
          <a:prstGeom prst="rect">
            <a:avLst/>
          </a:prstGeom>
          <a:solidFill>
            <a:srgbClr val="E9EFFA"/>
          </a:solidFill>
          <a:ln w="12700">
            <a:solidFill>
              <a:srgbClr val="6C3CE0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500" b="1" dirty="0">
                <a:solidFill>
                  <a:srgbClr val="6C3CE0"/>
                </a:solidFill>
                <a:latin typeface="Calibri"/>
              </a:rPr>
              <a:t xml:space="preserve">PROBLEM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Voice audio too heavy for low-rate links.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Text alerts exclude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STT must fire on pauses, form sentences, stream instantly.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Alerts must be voice: max-volume, non-interruptible.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0B1E3A"/>
                </a:solidFill>
                <a:latin typeface="Calibri"/>
              </a:rPr>
              <a:t xml:space="preserve">•  10 languages, offline, on low-power phones.</a:t>
            </a:r>
          </a:p>
        </p:txBody>
      </p:sp>
      <p:sp>
        <p:nvSpPr>
          <p:cNvPr id="27" name="s27"/>
          <p:cNvSpPr/>
          <p:nvPr/>
        </p:nvSpPr>
        <p:spPr>
          <a:xfrm>
            <a:off x="4206240" y="2606040"/>
            <a:ext cx="3611880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00C2A8"/>
                </a:solidFill>
                <a:latin typeface="Calibri"/>
              </a:rPr>
              <a:t xml:space="preserve">OUR SOLUTION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Silero VAD gate → PTT release → dual-engine STT (whisper/conformer).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Speech → UTF-8 transcript: 42 B vs 48,000 B PCM ≈1,100× less data.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Wi-Fi Direct / BT mesh; ChaCha20-Poly1305 + RS-FEC (K=8/M=4).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Receiver TTS in own language; SOS siren override.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PTT walkie-talkie / phone / SOS; 100% OSS, zero cloud.</a:t>
            </a:r>
          </a:p>
        </p:txBody>
      </p:sp>
      <p:sp>
        <p:nvSpPr>
          <p:cNvPr id="28" name="s28"/>
          <p:cNvSpPr/>
          <p:nvPr/>
        </p:nvSpPr>
        <p:spPr>
          <a:xfrm>
            <a:off x="7955279" y="2606040"/>
            <a:ext cx="3319272" cy="2148840"/>
          </a:xfrm>
          <a:prstGeom prst="rect">
            <a:avLst/>
          </a:prstGeom>
          <a:solidFill>
            <a:srgbClr val="16294A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WHY DIFFERENT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Voice notes need internet + MBs; dead in blackouts.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Radios: one language, no translation, extra hardware.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Cloud STT: proprietary, needs network, leaks voice.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Text-mesh excludes non-literate users.</a:t>
            </a:r>
          </a:p>
          <a:p>
            <a:pPr lvl="0"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•  Single-model STT fails the south (CER 0.45–0.61).</a:t>
            </a:r>
          </a:p>
        </p:txBody>
      </p:sp>
      <p:sp>
        <p:nvSpPr>
          <p:cNvPr id="29" name="s29"/>
          <p:cNvSpPr/>
          <p:nvPr/>
        </p:nvSpPr>
        <p:spPr>
          <a:xfrm>
            <a:off x="457200" y="4846320"/>
            <a:ext cx="11274552" cy="1417320"/>
          </a:xfrm>
          <a:prstGeom prst="rect">
            <a:avLst/>
          </a:prstGeom>
          <a:solidFill>
            <a:srgbClr val="2A1A08"/>
          </a:solidFill>
          <a:ln w="12700">
            <a:solidFill>
              <a:srgbClr val="FF6B1A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200" b="1" dirty="0">
                <a:solidFill>
                  <a:srgbClr val="FF6B1A"/>
                </a:solidFill>
                <a:latin typeface="Calibri"/>
              </a:rPr>
              <a:t xml:space="preserve">KEY VALUE PROPOSITION  •  42 B transcript vs 48,000 B PCM ≈1,100× less data  •  CER 0.03–0.34  •  467 + 15 tests green  •  APK 270 MB  •  CPU-only</a:t>
            </a:r>
            <a:r>
              <a:rPr lang="en-US" sz="1000" dirty="0">
                <a:solidFill>
                  <a:srgbClr val="FFFFFF"/>
                </a:solidFill>
                <a:latin typeface="Calibri"/>
              </a:rPr>
              <a:t xml:space="preserve">   [all: Measured, device 3353f694, Sep 2026, India]</a:t>
            </a:r>
          </a:p>
          <a:p>
            <a:pPr lvl="0"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 xml:space="preserve">Wire [Measured]: </a:t>
            </a:r>
            <a:r>
              <a:rPr lang="en-US" sz="1100" dirty="0">
                <a:solidFill>
                  <a:srgbClr val="FFFFFF"/>
                </a:solidFill>
                <a:latin typeface="Calibri"/>
              </a:rPr>
              <a:t xml:space="preserve">50 B/datagram × 12 FEC shards = 6,600 B TX/msg (11 broadcast dests) ≈7× vs PCM; ≤38 B semantic frame engine-tested (18–24 B) but NOT wired into TX — raw UTF-8 since b51be73. Fine-tune [Target, not yet run]: P1 shipped (south-indic) → P2 Kathbath 1,700 h + Vaani 7,000 h (AI4Bharat/ARTPARK, India) → P3 synthetic disaster vocabulary</a:t>
            </a:r>
          </a:p>
        </p:txBody>
      </p:sp>
      <p:sp>
        <p:nvSpPr>
          <p:cNvPr id="30" name="s30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2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1" name="b31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2" name="s32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TECHNICAL APPROACH</a:t>
            </a:r>
          </a:p>
        </p:txBody>
      </p:sp>
      <p:sp>
        <p:nvSpPr>
          <p:cNvPr id="33" name="s33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Sender → mesh → receiver</a:t>
            </a:r>
          </a:p>
        </p:txBody>
      </p:sp>
      <p:sp>
        <p:nvSpPr>
          <p:cNvPr id="34" name="b34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35" name="s35"/>
          <p:cNvSpPr/>
          <p:nvPr/>
        </p:nvSpPr>
        <p:spPr>
          <a:xfrm>
            <a:off x="457200" y="1920240"/>
            <a:ext cx="11274552" cy="868680"/>
          </a:xfrm>
          <a:prstGeom prst="rect">
            <a:avLst/>
          </a:prstGeom>
          <a:solidFill>
            <a:srgbClr val="16294A"/>
          </a:solidFill>
          <a:ln w="12700">
            <a:solidFill>
              <a:srgbClr val="00C2A8"/>
            </a:solidFill>
          </a:ln>
        </p:spPr>
        <p:txBody>
          <a:bodyPr wrap="square" lIns="91440" rIns="91440" tIns="45720" bIns="45720">
            <a:noAutofit/>
          </a:bodyPr>
          <a:lstStyle/>
          <a:p alg="ctr">
            <a:pPr lvl="0"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 xml:space="preserve">16 kHz PCM  →  Silero VAD  →  Hybrid STT (Conformer / Whisper)  →  UTF-8 transcript  →  ChaCha20-Poly1305 + RS-FEC (K=8, M=4)  →  UDP / Wi-Fi Direct / BT  →  TTS  →  Voice / Siren</a:t>
            </a:r>
          </a:p>
        </p:txBody>
      </p:sp>
      <p:sp>
        <p:nvSpPr>
          <p:cNvPr id="36" name="s36"/>
          <p:cNvSpPr/>
          <p:nvPr/>
        </p:nvSpPr>
        <p:spPr>
          <a:xfrm>
            <a:off x="457200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STACK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App + audio: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Kotlin/Coroutines; C++20 + Oboe 16 kHz mono; JNI bridge.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AI on CPU only: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Silero VAD 2.3 MB + Conformer INT8 + whisper.cpp Q8_0; -O2, 4 threads.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Store + forward: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hand-rolled binary frames, Room/SQLite audit log, background queue.</a:t>
            </a:r>
          </a:p>
        </p:txBody>
      </p:sp>
      <p:sp>
        <p:nvSpPr>
          <p:cNvPr id="37" name="s37"/>
          <p:cNvSpPr/>
          <p:nvPr/>
        </p:nvSpPr>
        <p:spPr>
          <a:xfrm>
            <a:off x="6336792" y="2971800"/>
            <a:ext cx="5394960" cy="320040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MODES &amp; PACKET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Modes: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PTT walkie-talkie • normal chat • SOS siren broadcast.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Packet: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40 B header (magic, ttl, seq, callsigns, shard idx) + RS shard; AEAD tag, no CRC.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Survivability: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Cauchy RS GF(2⁸) K=8/M=4 — recovers any 4 of 12 shards lost.</a:t>
            </a:r>
          </a:p>
        </p:txBody>
      </p:sp>
      <p:sp>
        <p:nvSpPr>
          <p:cNvPr id="38" name="s38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3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39" name="b39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0" name="s40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FEASIBILITY &amp; VIABILITY</a:t>
            </a:r>
          </a:p>
        </p:txBody>
      </p:sp>
      <p:sp>
        <p:nvSpPr>
          <p:cNvPr id="41" name="s41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Measured on-device, not slides</a:t>
            </a:r>
          </a:p>
        </p:txBody>
      </p:sp>
      <p:sp>
        <p:nvSpPr>
          <p:cNvPr id="42" name="b42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3" name="s43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VALIDATION  (measured)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467 backend + 15 integration tests green;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Sep 2026 run (10 skipped); transport 4/4.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on 3353f694 (42 B text):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50 B/datagram × 12 FEC shards = 6,600 B/msg (11 broadcast dests) vs 48,000 B PCM → ≈7× wire, ≈1,100× payload (English; Indic ≈3 B/char → 500–800×).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≤38 B frame engine-tested (18–24 B) but NOT in TX;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raw UTF-8 sent since b51be73 — semantic codes fabricated speech.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CER 0.03–0.34 [Measured, STT_GATE_RESULTS.md, Sep 2026];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APK 270 MB (≤300 cap); CPU-only, power draw Not Yet Tested.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Scales [Target]: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2-node PTT → 10-node team → multi-hop; multi-node Not Yet Tested.</a:t>
            </a:r>
          </a:p>
        </p:txBody>
      </p:sp>
      <p:sp>
        <p:nvSpPr>
          <p:cNvPr id="44" name="s44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RISKS → FIXES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TX amplification [Measured]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11 broadcast dests × 12 shards = 6.6 kB/msg; fan-out de-dup open.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Pause-trigger sentences [Target]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not built; PTT release + 10 s silence auto-stop today.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Small RAM phones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INT8/Q8_0 models + lazy load (gated langs only).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Dialect errors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P2 fine-tune on Kathbath + Vaani corpora.</a:t>
            </a:r>
          </a:p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•  Packet loss / collisions →   </a:t>
            </a: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Cauchy RS K=8/M=4 + CSMA/CA channel lock; VAD noise gate.</a:t>
            </a:r>
          </a:p>
        </p:txBody>
      </p:sp>
      <p:sp>
        <p:nvSpPr>
          <p:cNvPr id="45" name="s45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4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46" name="b46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47" name="s47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IMPACT &amp; VALUE</a:t>
            </a:r>
          </a:p>
        </p:txBody>
      </p:sp>
      <p:sp>
        <p:nvSpPr>
          <p:cNvPr id="48" name="s48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Who gains, and how much</a:t>
            </a:r>
          </a:p>
        </p:txBody>
      </p:sp>
      <p:sp>
        <p:nvSpPr>
          <p:cNvPr id="49" name="b49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0" name="s50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PEOPLE &amp; OPS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Social: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voice-in/voice-out in 10 languages; works for non-literate users.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Admin: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NDRF/police/fire/medical coordinate cross-language; SOS siren override.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Economic: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runs on ordinary phones; zero cloud/data bills.</a:t>
            </a:r>
          </a:p>
        </p:txBody>
      </p:sp>
      <p:sp>
        <p:nvSpPr>
          <p:cNvPr id="51" name="s51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TRUST &amp; NATION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Privacy: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voice never leaves the phone; open-source auditable stack.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Green: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≈1,100× less data at payload (42 B vs 48,000 B PCM); wire 6.6 kB/msg incl. FEC; longer handset life.</a:t>
            </a:r>
          </a:p>
          <a:p>
            <a:pPr lvl="0" marL="0" indent="0">
              <a:buNone/>
            </a:pPr>
            <a:r>
              <a:rPr lang="en-US" sz="1400" b="1" dirty="0">
                <a:solidFill>
                  <a:srgbClr val="FF6B1A"/>
                </a:solidFill>
                <a:latin typeface="Calibri"/>
              </a:rPr>
              <a:t xml:space="preserve">•  Atmanirbhar:   </a:t>
            </a:r>
            <a:r>
              <a:rPr lang="en-US" sz="1400" dirty="0">
                <a:solidFill>
                  <a:srgbClr val="FFFFFF"/>
                </a:solidFill>
                <a:latin typeface="Calibri"/>
              </a:rPr>
              <a:t xml:space="preserve">indigenous stack, works through total grid/internet blackout.</a:t>
            </a:r>
          </a:p>
        </p:txBody>
      </p:sp>
      <p:sp>
        <p:nvSpPr>
          <p:cNvPr id="52" name="s52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5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A"/>
        </a:solidFill>
      </p:bgPr>
    </p:bg>
    <p:spTree>
      <p:nvGrpSpPr>
        <p:cNvPr id="0" name=""/>
        <p:cNvGrpSpPr/>
        <p:nvPr/>
      </p:nvGrpSpPr>
      <p:grpSpPr>
        <a:xfrm>
          <a:off x="0" y="0"/>
          <a:ext cx="12191695" cy="6858000"/>
          <a:chOff x="0" y="0"/>
          <a:chExt cx="12191695" cy="6858000"/>
        </a:xfrm>
      </p:grpSpPr>
      <p:sp>
        <p:nvSpPr>
          <p:cNvPr id="53" name="b53"/>
          <p:cNvSpPr/>
          <p:nvPr/>
        </p:nvSpPr>
        <p:spPr>
          <a:xfrm>
            <a:off x="457200" y="320040"/>
            <a:ext cx="548640" cy="73152"/>
          </a:xfrm>
          <a:prstGeom prst="rect">
            <a:avLst/>
          </a:prstGeom>
          <a:solidFill>
            <a:srgbClr val="FF6B1A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4" name="s54"/>
          <p:cNvSpPr/>
          <p:nvPr/>
        </p:nvSpPr>
        <p:spPr>
          <a:xfrm>
            <a:off x="457200" y="502920"/>
            <a:ext cx="11274552" cy="4114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FF6B1A"/>
                </a:solidFill>
                <a:latin typeface="Calibri"/>
              </a:rPr>
              <a:t xml:space="preserve">RESEARCH &amp; REFERENCES</a:t>
            </a:r>
          </a:p>
        </p:txBody>
      </p:sp>
      <p:sp>
        <p:nvSpPr>
          <p:cNvPr id="55" name="s55"/>
          <p:cNvSpPr/>
          <p:nvPr/>
        </p:nvSpPr>
        <p:spPr>
          <a:xfrm>
            <a:off x="457200" y="868680"/>
            <a:ext cx="11274552" cy="777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 xml:space="preserve">Every claim traces to a source</a:t>
            </a:r>
          </a:p>
        </p:txBody>
      </p:sp>
      <p:sp>
        <p:nvSpPr>
          <p:cNvPr id="56" name="b56"/>
          <p:cNvSpPr/>
          <p:nvPr/>
        </p:nvSpPr>
        <p:spPr>
          <a:xfrm>
            <a:off x="457200" y="1691640"/>
            <a:ext cx="11274552" cy="32004"/>
          </a:xfrm>
          <a:prstGeom prst="rect">
            <a:avLst/>
          </a:prstGeom>
          <a:solidFill>
            <a:srgbClr val="24344F"/>
          </a:solidFill>
          <a:ln>
            <a:noFill/>
          </a:ln>
        </p:spPr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7" name="s57"/>
          <p:cNvSpPr/>
          <p:nvPr/>
        </p:nvSpPr>
        <p:spPr>
          <a:xfrm>
            <a:off x="457200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PROBLEM + AI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ITU emergency-telecom handbook; NDMA plan; ISRO/SIH-2026 PS.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AI4Bharat IndicConformer + Kathbath (IIT-M).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ARTPARK-Vaani 7,000 h Indic corpus (IISc) — P2 tuning data.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parambharat/whisper-tiny-south-indic (HF) + whisper.cpp.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snakers4/silero-vad — speech gating pre-STT; no version string in shipped ONNX.</a:t>
            </a:r>
          </a:p>
        </p:txBody>
      </p:sp>
      <p:sp>
        <p:nvSpPr>
          <p:cNvPr id="58" name="s58"/>
          <p:cNvSpPr/>
          <p:nvPr/>
        </p:nvSpPr>
        <p:spPr>
          <a:xfrm>
            <a:off x="6336792" y="1920240"/>
            <a:ext cx="5394960" cy="4206240"/>
          </a:xfrm>
          <a:prstGeom prst="rect">
            <a:avLst/>
          </a:prstGeom>
          <a:solidFill>
            <a:srgbClr val="16294A"/>
          </a:solidFill>
          <a:ln w="12700">
            <a:solidFill>
              <a:srgbClr val="24344F"/>
            </a:solidFill>
          </a:ln>
        </p:spPr>
        <p:txBody>
          <a:bodyPr wrap="square" lIns="91440" rIns="91440" tIns="45720" bIns="45720">
            <a:noAutofit/>
          </a:bodyPr>
          <a:lstStyle/>
          <a:p>
            <a:pPr lvl="0" marL="0" indent="0">
              <a:buNone/>
            </a:pPr>
            <a:r>
              <a:rPr lang="en-US" sz="1300" b="1" dirty="0">
                <a:solidFill>
                  <a:srgbClr val="00C2A8"/>
                </a:solidFill>
                <a:latin typeface="Calibri"/>
              </a:rPr>
              <a:t xml:space="preserve">MARKET + PROOF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MarketsandMarkets, Critical Communications, Global, 2024: $18.4B (2024) → $34.8B (2030), 11.2% CAGR.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TRAI Performance Indicators, India, 2024: ~1.19B wireless subscribers (Est., unverified here).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iTantra audit, Sep 2026: 467 backend + 15 integration tests green; TX path measured 50 B/datagram × 12 FEC shards.</a:t>
            </a:r>
          </a:p>
          <a:p>
            <a:pPr lvl="0"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/>
              </a:rPr>
              <a:t xml:space="preserve">•  STT_GATE_RESULTS.md, Sep 2026: laptop CER gate + on-device parity.</a:t>
            </a:r>
          </a:p>
        </p:txBody>
      </p:sp>
      <p:sp>
        <p:nvSpPr>
          <p:cNvPr id="59" name="s59"/>
          <p:cNvSpPr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Autofit/>
          </a:bodyPr>
          <a:lstStyle/>
          <a:p alg="r">
            <a:pPr lvl="0" marL="0" indent="0">
              <a:buNone/>
            </a:pPr>
            <a:r>
              <a:rPr lang="en-US" sz="1000" dirty="0">
                <a:solidFill>
                  <a:srgbClr val="C9D4E3"/>
                </a:solidFill>
                <a:latin typeface="Calibri"/>
              </a:rPr>
              <a:t xml:space="preserve">Team iTantra  •  SIH2026 / ISRO-01  •  6 /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iTantra">
  <a:themeElements>
    <a:clrScheme name="iTantra">
      <a:dk1>
        <a:srgbClr val="0B1E3A"/>
      </a:dk1>
      <a:lt1>
        <a:srgbClr val="FFFFFF"/>
      </a:lt1>
      <a:dk2>
        <a:srgbClr val="16294A"/>
      </a:dk2>
      <a:lt2>
        <a:srgbClr val="C9D4E3"/>
      </a:lt2>
      <a:accent1>
        <a:srgbClr val="FF6B1A"/>
      </a:accent1>
      <a:accent2>
        <a:srgbClr val="00C2A8"/>
      </a:accent2>
      <a:accent3>
        <a:srgbClr val="3A86FF"/>
      </a:accent3>
      <a:accent4>
        <a:srgbClr val="8338EC"/>
      </a:accent4>
      <a:accent5>
        <a:srgbClr val="FFBE0B"/>
      </a:accent5>
      <a:accent6>
        <a:srgbClr val="FB5607"/>
      </a:accent6>
      <a:hlink>
        <a:srgbClr val="3A86FF"/>
      </a:hlink>
      <a:folHlink>
        <a:srgbClr val="8338EC"/>
      </a:folHlink>
    </a:clrScheme>
    <a:fmtScheme name="iTantra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iTantra build script</Application>
  <PresentationFormat>Widescreen</PresentationFormat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title>iTantra — SIH 2026</dc:title>
  <dc:creator>Team iTantra</dc:creator>
</cp:coreProperties>
</file>